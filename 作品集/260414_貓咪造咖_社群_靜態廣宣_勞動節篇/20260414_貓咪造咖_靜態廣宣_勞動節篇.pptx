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61" r:id="rId4"/>
    <p:sldId id="263" r:id="rId5"/>
    <p:sldId id="262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27BCB22-5DEB-4D4A-AEB1-C0894EA97893}">
  <a:tblStyle styleId="{D27BCB22-5DEB-4D4A-AEB1-C0894EA9789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827450-85E5-4037-9B08-230FE2B864A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6" autoAdjust="0"/>
    <p:restoredTop sz="94660"/>
  </p:normalViewPr>
  <p:slideViewPr>
    <p:cSldViewPr snapToGrid="0">
      <p:cViewPr>
        <p:scale>
          <a:sx n="150" d="100"/>
          <a:sy n="150" d="100"/>
        </p:scale>
        <p:origin x="-54" y="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ce70d4e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ce70d4e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f67f4b9b1_2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f67f4b9b1_2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>
          <a:extLst>
            <a:ext uri="{FF2B5EF4-FFF2-40B4-BE49-F238E27FC236}">
              <a16:creationId xmlns:a16="http://schemas.microsoft.com/office/drawing/2014/main" id="{0C9776AC-485E-F9E4-0B5E-C0C03C0E3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6f67f4b9b1_5_37:notes">
            <a:extLst>
              <a:ext uri="{FF2B5EF4-FFF2-40B4-BE49-F238E27FC236}">
                <a16:creationId xmlns:a16="http://schemas.microsoft.com/office/drawing/2014/main" id="{5ECB6DA4-57F8-A175-38F5-22A76F5E1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6f67f4b9b1_5_37:notes">
            <a:extLst>
              <a:ext uri="{FF2B5EF4-FFF2-40B4-BE49-F238E27FC236}">
                <a16:creationId xmlns:a16="http://schemas.microsoft.com/office/drawing/2014/main" id="{66FA5E4E-B3D6-6B6F-9696-4B30E6F682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3259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3ce70d4e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73ce70d4e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gif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2.jpe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>
            <p:extLst>
              <p:ext uri="{D42A27DB-BD31-4B8C-83A1-F6EECF244321}">
                <p14:modId xmlns:p14="http://schemas.microsoft.com/office/powerpoint/2010/main" val="881694175"/>
              </p:ext>
            </p:extLst>
          </p:nvPr>
        </p:nvGraphicFramePr>
        <p:xfrm>
          <a:off x="360000" y="182550"/>
          <a:ext cx="8280050" cy="29106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素材名稱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：</a:t>
                      </a:r>
                      <a:r>
                        <a:rPr lang="en-US" alt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20260414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貓咪造咖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</a:t>
                      </a:r>
                      <a:r>
                        <a:rPr lang="zh-TW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_</a:t>
                      </a:r>
                      <a:r>
                        <a:rPr lang="zh-TW" altLang="en-US" sz="1100" b="1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勞動節篇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Gif廣宣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靜態廣宣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商店頁圖片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H5廣宣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互動廣宣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媒體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Google　　</a:t>
                      </a:r>
                      <a:r>
                        <a:rPr lang="zh-TW" altLang="en-US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Tiktok　　</a:t>
                      </a:r>
                      <a:r>
                        <a:rPr lang="zh-TW" alt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其他：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IG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FB</a:t>
                      </a: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en-US" alt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Threads</a:t>
                      </a:r>
                      <a:endParaRPr sz="1200" b="1" dirty="0">
                        <a:solidFill>
                          <a:srgbClr val="CC0000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6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總支數</a:t>
                      </a:r>
                      <a:r>
                        <a:rPr lang="zh-TW" sz="7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(特殊規格說明)</a:t>
                      </a:r>
                      <a:endParaRPr sz="7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2(</a:t>
                      </a:r>
                      <a:r>
                        <a:rPr lang="zh-TW" altLang="en-US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一個有兌換碼；另一個把木牌換成樹</a:t>
                      </a: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1000" b="1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0000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最大秒數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zh-TW" sz="12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200" b="1" dirty="0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全新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部分沿用舊素材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舊素材微調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relanguage　　</a:t>
                      </a: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r>
                        <a:rPr lang="zh-TW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resize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影像特殊需求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音效特殊需求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2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chemeClr val="tx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5" name="Google Shape;55;p13"/>
          <p:cNvGraphicFramePr/>
          <p:nvPr/>
        </p:nvGraphicFramePr>
        <p:xfrm>
          <a:off x="-405700" y="182550"/>
          <a:ext cx="765700" cy="36573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b="1">
                          <a:solidFill>
                            <a:srgbClr val="CC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☑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2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☐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0E0E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" name="Google Shape;56;p13"/>
          <p:cNvGraphicFramePr/>
          <p:nvPr>
            <p:extLst>
              <p:ext uri="{D42A27DB-BD31-4B8C-83A1-F6EECF244321}">
                <p14:modId xmlns:p14="http://schemas.microsoft.com/office/powerpoint/2010/main" val="3902590023"/>
              </p:ext>
            </p:extLst>
          </p:nvPr>
        </p:nvGraphicFramePr>
        <p:xfrm>
          <a:off x="359988" y="3229200"/>
          <a:ext cx="8280075" cy="175245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445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畫面風格</a:t>
                      </a:r>
                      <a:endParaRPr sz="1100" b="1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/>
                        <a:t>可愛療癒、夏日風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配樂風格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廣告TA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上班族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廣告目的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b="1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廣告鉤子</a:t>
                      </a:r>
                      <a:endParaRPr sz="1100" b="1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配合節日發送兌換碼，維持社群玩家互動</a:t>
                      </a:r>
                      <a:endParaRPr sz="10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" name="Google Shape;61;p14"/>
          <p:cNvGraphicFramePr/>
          <p:nvPr>
            <p:extLst>
              <p:ext uri="{D42A27DB-BD31-4B8C-83A1-F6EECF244321}">
                <p14:modId xmlns:p14="http://schemas.microsoft.com/office/powerpoint/2010/main" val="516841801"/>
              </p:ext>
            </p:extLst>
          </p:nvPr>
        </p:nvGraphicFramePr>
        <p:xfrm>
          <a:off x="0" y="0"/>
          <a:ext cx="9143975" cy="5367775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32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2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943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0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850">
                <a:tc gridSpan="5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素材尺寸 (需求標黃底, 紅字優先對稿)</a:t>
                      </a:r>
                      <a:endParaRPr sz="18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素材類型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檔案格式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0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150">
                <a:tc rowSpan="4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適用廣告/社群素材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Banner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1080*1350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highlight>
                            <a:srgbClr val="FFFF00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1080*1080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、1200*628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</a:t>
                      </a: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*</a:t>
                      </a:r>
                      <a:r>
                        <a:rPr lang="en-US" alt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</a:t>
                      </a: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僅需</a:t>
                      </a:r>
                      <a:r>
                        <a:rPr lang="zh-TW" altLang="en-US" sz="1000" b="0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做</a:t>
                      </a:r>
                      <a:r>
                        <a:rPr lang="zh-TW" altLang="en-US" sz="1000" b="1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無兌換碼</a:t>
                      </a:r>
                      <a:r>
                        <a:rPr lang="zh-TW" altLang="en-US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的圖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Video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</a:t>
                      </a:r>
                      <a:r>
                        <a:rPr lang="zh-TW" sz="1000" dirty="0">
                          <a:solidFill>
                            <a:srgbClr val="FF000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</a:t>
                      </a:r>
                      <a:r>
                        <a:rPr lang="zh-TW" sz="10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、1080*1350、1080*1080</a:t>
                      </a: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Gif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1920*1080、1080*1920、1080*1350、1080*1080、1200*628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1920*1080、1080*1920、1080*1350、1080*1080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850">
                <a:tc rowSpan="5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適用商店頁素材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Screenshot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4CC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橫：1920*1080 (AN)、2732*2048 (iOS iPAD)、2688*1242、2208*1242 (iOS手機)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直：1080*1920 (AN)、2048*2732 (iOS iPAD)、1242*2688、1242*2208 (iOS手機)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主題圖片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1024*500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Liveops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1080*1920、1920*1080、1080*1080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主題影片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mp4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1920*1080、1920*886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015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Icon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JPG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512*512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&lt;1MB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0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其他 (自填尺寸)</a:t>
                      </a:r>
                      <a:endParaRPr sz="10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8"/>
          <p:cNvGraphicFramePr/>
          <p:nvPr>
            <p:extLst>
              <p:ext uri="{D42A27DB-BD31-4B8C-83A1-F6EECF244321}">
                <p14:modId xmlns:p14="http://schemas.microsoft.com/office/powerpoint/2010/main" val="865109900"/>
              </p:ext>
            </p:extLst>
          </p:nvPr>
        </p:nvGraphicFramePr>
        <p:xfrm flipH="1">
          <a:off x="3614775" y="-1"/>
          <a:ext cx="5529225" cy="514349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3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0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天空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要有雲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)+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沙灘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可參考右圖海浪沙灘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貓咪們倚靠在木板旁邊愉快的休息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木牌上寫兌換碼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背景空中可以有小海鷗飛過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兩隻貓貓微笑的休息、享受假期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腳色參考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劇情對話貓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Customer_0001_skin00_smile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Customer_0041_skin00_laugh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服裝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賓士貓穿得跟救生員貓一樣，只是顏色換成藍色；墨鏡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(he_68)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；救生圈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(ot_28)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救生員貓不換裝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8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物件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木牌請協助再更像素化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請協助木牌以及文字配色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51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右上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文字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兌換碼</a:t>
                      </a:r>
                      <a:r>
                        <a:rPr kumimoji="0" lang="en-US" altLang="zh-TW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  <a:r>
                        <a:rPr kumimoji="0" lang="zh-TW" alt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endParaRPr kumimoji="0" lang="en-US" altLang="zh-TW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b="1" dirty="0">
                          <a:solidFill>
                            <a:schemeClr val="tx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Labor2651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4" name="Google Shape;84;p18"/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30" name="Picture 6" descr="Pixel Beach 影像– 瀏覽56,792 個素材庫相片、向量圖和影片| Adobe Stock">
            <a:extLst>
              <a:ext uri="{FF2B5EF4-FFF2-40B4-BE49-F238E27FC236}">
                <a16:creationId xmlns:a16="http://schemas.microsoft.com/office/drawing/2014/main" id="{9681B30D-6C47-DD7A-8F5C-CA9003C4C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" y="784962"/>
            <a:ext cx="3587724" cy="435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게임 직업이 되다 - 게임잡">
            <a:extLst>
              <a:ext uri="{FF2B5EF4-FFF2-40B4-BE49-F238E27FC236}">
                <a16:creationId xmlns:a16="http://schemas.microsoft.com/office/drawing/2014/main" id="{B4C371FC-B8D4-993F-7752-10B5A5370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44"/>
          <a:stretch>
            <a:fillRect/>
          </a:stretch>
        </p:blipFill>
        <p:spPr bwMode="auto">
          <a:xfrm>
            <a:off x="-6456" y="4163259"/>
            <a:ext cx="3600587" cy="114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圖片 50">
            <a:extLst>
              <a:ext uri="{FF2B5EF4-FFF2-40B4-BE49-F238E27FC236}">
                <a16:creationId xmlns:a16="http://schemas.microsoft.com/office/drawing/2014/main" id="{38052949-CEA3-B20E-32E9-1F8847D533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608" b="16375"/>
          <a:stretch>
            <a:fillRect/>
          </a:stretch>
        </p:blipFill>
        <p:spPr>
          <a:xfrm>
            <a:off x="828911" y="2846374"/>
            <a:ext cx="1821746" cy="1755749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8D93AD10-58D4-7E70-A16E-9A52B125B427}"/>
              </a:ext>
            </a:extLst>
          </p:cNvPr>
          <p:cNvSpPr txBox="1"/>
          <p:nvPr/>
        </p:nvSpPr>
        <p:spPr>
          <a:xfrm>
            <a:off x="838164" y="2911285"/>
            <a:ext cx="1669158" cy="699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TW" altLang="en-US" sz="1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兌換碼</a:t>
            </a:r>
            <a:r>
              <a:rPr lang="en-US" altLang="zh-TW" sz="1400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:</a:t>
            </a: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TW" b="1" dirty="0">
                <a:solidFill>
                  <a:schemeClr val="tx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【Labor2651】</a:t>
            </a:r>
            <a:endParaRPr lang="en-US" altLang="zh-TW" sz="1400" b="1" dirty="0">
              <a:solidFill>
                <a:schemeClr val="tx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309CE318-9FF1-5135-71EE-7323EE5A8F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4376" y="863428"/>
            <a:ext cx="982852" cy="518301"/>
          </a:xfrm>
          <a:prstGeom prst="rect">
            <a:avLst/>
          </a:prstGeom>
        </p:spPr>
      </p:pic>
      <p:pic>
        <p:nvPicPr>
          <p:cNvPr id="1038" name="Picture 14" descr="Pixel Art Seagull Flying Animation by Spiritbeard on DeviantArt">
            <a:extLst>
              <a:ext uri="{FF2B5EF4-FFF2-40B4-BE49-F238E27FC236}">
                <a16:creationId xmlns:a16="http://schemas.microsoft.com/office/drawing/2014/main" id="{73A82B3E-3973-8B6C-AD5C-3B4BBE080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76784" y="1637414"/>
            <a:ext cx="900444" cy="72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14" descr="Pixel Art Seagull Flying Animation by Spiritbeard on DeviantArt">
            <a:extLst>
              <a:ext uri="{FF2B5EF4-FFF2-40B4-BE49-F238E27FC236}">
                <a16:creationId xmlns:a16="http://schemas.microsoft.com/office/drawing/2014/main" id="{30ABE202-EAA0-E0CA-2163-61928C665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7942" y="1122578"/>
            <a:ext cx="900444" cy="72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C0C71C2B-9FFF-0590-30BE-8996D558EF3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3967" b="-7027"/>
          <a:stretch>
            <a:fillRect/>
          </a:stretch>
        </p:blipFill>
        <p:spPr>
          <a:xfrm rot="21291605">
            <a:off x="2024803" y="3085053"/>
            <a:ext cx="1446381" cy="187576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FE49F96-FCA6-2B18-C29D-1A0A7419F7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-27099" y="3209413"/>
            <a:ext cx="1508847" cy="1755749"/>
          </a:xfrm>
          <a:prstGeom prst="rect">
            <a:avLst/>
          </a:prstGeom>
        </p:spPr>
      </p:pic>
      <p:pic>
        <p:nvPicPr>
          <p:cNvPr id="6" name="Picture 2" descr="게임 직업이 되다 - 게임잡">
            <a:extLst>
              <a:ext uri="{FF2B5EF4-FFF2-40B4-BE49-F238E27FC236}">
                <a16:creationId xmlns:a16="http://schemas.microsoft.com/office/drawing/2014/main" id="{DD188DA7-645D-7373-9364-068BC6726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79" y="520733"/>
            <a:ext cx="2044026" cy="183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2EFEF55-FDE5-F444-A1DE-4B61BC5DC7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375348" flipH="1">
            <a:off x="2336058" y="3239114"/>
            <a:ext cx="995439" cy="1244299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8F921BF-E5D8-EEA0-479A-295C95EDCA7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flipH="1">
            <a:off x="2350496" y="3511585"/>
            <a:ext cx="1100651" cy="137581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A1657F5-78AD-52C1-9294-3B24C75378E1}"/>
              </a:ext>
            </a:extLst>
          </p:cNvPr>
          <p:cNvSpPr txBox="1"/>
          <p:nvPr/>
        </p:nvSpPr>
        <p:spPr>
          <a:xfrm>
            <a:off x="1136023" y="345797"/>
            <a:ext cx="13427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1080*1350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>
          <a:extLst>
            <a:ext uri="{FF2B5EF4-FFF2-40B4-BE49-F238E27FC236}">
              <a16:creationId xmlns:a16="http://schemas.microsoft.com/office/drawing/2014/main" id="{7F08E16E-DF14-1AFD-35CA-22D2944DE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" name="Google Shape;83;p18">
            <a:extLst>
              <a:ext uri="{FF2B5EF4-FFF2-40B4-BE49-F238E27FC236}">
                <a16:creationId xmlns:a16="http://schemas.microsoft.com/office/drawing/2014/main" id="{2A962396-CDFF-F62D-7BDF-212A2B481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9674313"/>
              </p:ext>
            </p:extLst>
          </p:nvPr>
        </p:nvGraphicFramePr>
        <p:xfrm flipH="1">
          <a:off x="3614775" y="-1"/>
          <a:ext cx="5529225" cy="514349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85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32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排版物件</a:t>
                      </a:r>
                      <a:endParaRPr sz="100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 b="1" dirty="0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 ／ 資料庫連結</a:t>
                      </a:r>
                      <a:endParaRPr sz="1000" dirty="0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343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0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</a:t>
                      </a: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天空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要有雲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)+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海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+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沙灘</a:t>
                      </a:r>
                      <a:b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可參考右圖海浪沙灘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)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08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排版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貓咪們倚靠在椰子樹邊愉快的休息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背景空中可以有小海鷗飛過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40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兩隻貓貓微笑的休息、享受假期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腳色參考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X:\grp.product.art.check\【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貓咖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】\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劇情對話貓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Customer_0001_skin00_smile</a:t>
                      </a:r>
                    </a:p>
                    <a:p>
                      <a:pPr marL="17145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Customer_0041_skin00_laugh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服裝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賓士貓穿得跟救生員貓一樣，只是顏色換成藍色；墨鏡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(he_68)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；救生圈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(ot_28)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救生員貓不換裝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8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altLang="en-US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物件</a:t>
                      </a:r>
                      <a:endParaRPr lang="en-US" altLang="zh-TW"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椰子樹可協助排版，或保持如例圖也可</a:t>
                      </a:r>
                      <a:endParaRPr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511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rgbClr val="43434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solidFill>
                          <a:srgbClr val="434343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</a:t>
                      </a:r>
                      <a:r>
                        <a:rPr lang="en-US" altLang="zh-TW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-</a:t>
                      </a:r>
                      <a:r>
                        <a:rPr lang="zh-TW" altLang="en-US" sz="800" dirty="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  右上</a:t>
                      </a: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zh-TW" sz="800" dirty="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4" name="Google Shape;84;p18">
            <a:extLst>
              <a:ext uri="{FF2B5EF4-FFF2-40B4-BE49-F238E27FC236}">
                <a16:creationId xmlns:a16="http://schemas.microsoft.com/office/drawing/2014/main" id="{E1D4F5BE-79FC-9613-DB8D-183209904B97}"/>
              </a:ext>
            </a:extLst>
          </p:cNvPr>
          <p:cNvGraphicFramePr/>
          <p:nvPr/>
        </p:nvGraphicFramePr>
        <p:xfrm>
          <a:off x="-12" y="-12"/>
          <a:ext cx="3614775" cy="5143500"/>
        </p:xfrm>
        <a:graphic>
          <a:graphicData uri="http://schemas.openxmlformats.org/drawingml/2006/table">
            <a:tbl>
              <a:tblPr>
                <a:noFill/>
                <a:tableStyleId>{D27BCB22-5DEB-4D4A-AEB1-C0894EA97893}</a:tableStyleId>
              </a:tblPr>
              <a:tblGrid>
                <a:gridCol w="127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9675">
                <a:tc rowSpan="2" gridSpan="3">
                  <a:txBody>
                    <a:bodyPr/>
                    <a:lstStyle/>
                    <a:p>
                      <a:pPr marL="0" lvl="0" indent="0" algn="l" rtl="0">
                        <a:lnSpc>
                          <a:spcPct val="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825">
                <a:tc gridSpan="3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30" name="Picture 6" descr="Pixel Beach 影像– 瀏覽56,792 個素材庫相片、向量圖和影片| Adobe Stock">
            <a:extLst>
              <a:ext uri="{FF2B5EF4-FFF2-40B4-BE49-F238E27FC236}">
                <a16:creationId xmlns:a16="http://schemas.microsoft.com/office/drawing/2014/main" id="{287C4CCF-EABD-F2B6-2429-990152B3E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" y="784962"/>
            <a:ext cx="3587724" cy="435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게임 직업이 되다 - 게임잡">
            <a:extLst>
              <a:ext uri="{FF2B5EF4-FFF2-40B4-BE49-F238E27FC236}">
                <a16:creationId xmlns:a16="http://schemas.microsoft.com/office/drawing/2014/main" id="{80DEF359-C449-9B13-23D2-EBEF9C3BC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844"/>
          <a:stretch>
            <a:fillRect/>
          </a:stretch>
        </p:blipFill>
        <p:spPr bwMode="auto">
          <a:xfrm>
            <a:off x="-6456" y="4163259"/>
            <a:ext cx="3600587" cy="114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7C5A51C6-7BE6-8D9F-BAF2-08C226517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4376" y="863428"/>
            <a:ext cx="982852" cy="518301"/>
          </a:xfrm>
          <a:prstGeom prst="rect">
            <a:avLst/>
          </a:prstGeom>
        </p:spPr>
      </p:pic>
      <p:pic>
        <p:nvPicPr>
          <p:cNvPr id="1038" name="Picture 14" descr="Pixel Art Seagull Flying Animation by Spiritbeard on DeviantArt">
            <a:extLst>
              <a:ext uri="{FF2B5EF4-FFF2-40B4-BE49-F238E27FC236}">
                <a16:creationId xmlns:a16="http://schemas.microsoft.com/office/drawing/2014/main" id="{DDED765A-FB45-4CB8-328A-8EFDAB779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576784" y="1637414"/>
            <a:ext cx="900444" cy="72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14" descr="Pixel Art Seagull Flying Animation by Spiritbeard on DeviantArt">
            <a:extLst>
              <a:ext uri="{FF2B5EF4-FFF2-40B4-BE49-F238E27FC236}">
                <a16:creationId xmlns:a16="http://schemas.microsoft.com/office/drawing/2014/main" id="{35772924-393B-EE14-2F13-CB8E0DB75F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87942" y="1122578"/>
            <a:ext cx="900444" cy="720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게임 직업이 되다 - 게임잡">
            <a:extLst>
              <a:ext uri="{FF2B5EF4-FFF2-40B4-BE49-F238E27FC236}">
                <a16:creationId xmlns:a16="http://schemas.microsoft.com/office/drawing/2014/main" id="{D003DC6C-4241-09F7-FCEF-002838D94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579" y="520733"/>
            <a:ext cx="2044026" cy="183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48FCC6EA-9DEA-33B0-1376-6635BA26A1F3}"/>
              </a:ext>
            </a:extLst>
          </p:cNvPr>
          <p:cNvGrpSpPr/>
          <p:nvPr/>
        </p:nvGrpSpPr>
        <p:grpSpPr>
          <a:xfrm flipH="1">
            <a:off x="2141319" y="3287764"/>
            <a:ext cx="1446381" cy="1875760"/>
            <a:chOff x="2024803" y="3085053"/>
            <a:chExt cx="1446381" cy="1875760"/>
          </a:xfrm>
        </p:grpSpPr>
        <p:pic>
          <p:nvPicPr>
            <p:cNvPr id="42" name="圖片 41">
              <a:extLst>
                <a:ext uri="{FF2B5EF4-FFF2-40B4-BE49-F238E27FC236}">
                  <a16:creationId xmlns:a16="http://schemas.microsoft.com/office/drawing/2014/main" id="{4ABDCDD3-7B72-CC97-6E1D-A3432742515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3967" b="-7027"/>
            <a:stretch>
              <a:fillRect/>
            </a:stretch>
          </p:blipFill>
          <p:spPr>
            <a:xfrm rot="21291605">
              <a:off x="2024803" y="3085053"/>
              <a:ext cx="1446381" cy="1875760"/>
            </a:xfrm>
            <a:prstGeom prst="rect">
              <a:avLst/>
            </a:prstGeom>
          </p:spPr>
        </p:pic>
        <p:pic>
          <p:nvPicPr>
            <p:cNvPr id="12" name="圖片 11">
              <a:extLst>
                <a:ext uri="{FF2B5EF4-FFF2-40B4-BE49-F238E27FC236}">
                  <a16:creationId xmlns:a16="http://schemas.microsoft.com/office/drawing/2014/main" id="{7D5D79D9-5F34-C665-D783-68FA912AB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375348" flipH="1">
              <a:off x="2336058" y="3239114"/>
              <a:ext cx="995439" cy="1244299"/>
            </a:xfrm>
            <a:prstGeom prst="rect">
              <a:avLst/>
            </a:prstGeom>
          </p:spPr>
        </p:pic>
        <p:pic>
          <p:nvPicPr>
            <p:cNvPr id="14" name="圖片 13">
              <a:extLst>
                <a:ext uri="{FF2B5EF4-FFF2-40B4-BE49-F238E27FC236}">
                  <a16:creationId xmlns:a16="http://schemas.microsoft.com/office/drawing/2014/main" id="{7DF9AA15-2CD5-8BB9-CFBA-C3075C2D6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t="16280" b="26701"/>
            <a:stretch>
              <a:fillRect/>
            </a:stretch>
          </p:blipFill>
          <p:spPr>
            <a:xfrm flipH="1">
              <a:off x="2335396" y="3812376"/>
              <a:ext cx="1100651" cy="784466"/>
            </a:xfrm>
            <a:prstGeom prst="rect">
              <a:avLst/>
            </a:prstGeom>
          </p:spPr>
        </p:pic>
      </p:grpSp>
      <p:pic>
        <p:nvPicPr>
          <p:cNvPr id="2050" name="Picture 2" descr="Palm Tree Pixel Art Icon 8-bit庫存向量圖（免版稅）2401564589 | Shutterstock">
            <a:extLst>
              <a:ext uri="{FF2B5EF4-FFF2-40B4-BE49-F238E27FC236}">
                <a16:creationId xmlns:a16="http://schemas.microsoft.com/office/drawing/2014/main" id="{5BFBD5FA-C905-353F-4FFE-AF144B86B8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/>
          <a:srcRect l="15415" r="25399" b="16045"/>
          <a:stretch>
            <a:fillRect/>
          </a:stretch>
        </p:blipFill>
        <p:spPr bwMode="auto">
          <a:xfrm>
            <a:off x="273829" y="1608222"/>
            <a:ext cx="2004354" cy="3061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Palm Tree Pixel Art Icon 8-bit庫存向量圖（免版稅）2401564589 | Shutterstock">
            <a:extLst>
              <a:ext uri="{FF2B5EF4-FFF2-40B4-BE49-F238E27FC236}">
                <a16:creationId xmlns:a16="http://schemas.microsoft.com/office/drawing/2014/main" id="{53DB4D60-0FEA-6B11-9FE9-638BEFCE87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/>
          <a:srcRect l="15415" r="25399" b="16045"/>
          <a:stretch>
            <a:fillRect/>
          </a:stretch>
        </p:blipFill>
        <p:spPr bwMode="auto">
          <a:xfrm flipH="1">
            <a:off x="1479471" y="2295384"/>
            <a:ext cx="1570371" cy="239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B66B24E3-BC9A-7D63-1A28-4F671357464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018" y="3128488"/>
            <a:ext cx="1523842" cy="1773198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F00941F-D7D0-7BA2-910A-57B6880C337C}"/>
              </a:ext>
            </a:extLst>
          </p:cNvPr>
          <p:cNvSpPr txBox="1"/>
          <p:nvPr/>
        </p:nvSpPr>
        <p:spPr>
          <a:xfrm>
            <a:off x="1194038" y="319527"/>
            <a:ext cx="11995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zh-TW" sz="1400" dirty="0">
                <a:solidFill>
                  <a:schemeClr val="dk1"/>
                </a:solidFill>
                <a:highlight>
                  <a:srgbClr val="FFFF00"/>
                </a:highlight>
                <a:latin typeface="Microsoft JhengHei"/>
                <a:ea typeface="Microsoft JhengHei"/>
                <a:cs typeface="Microsoft JhengHei"/>
                <a:sym typeface="Microsoft JhengHei"/>
              </a:rPr>
              <a:t>1080*1080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0127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9"/>
          <p:cNvGraphicFramePr/>
          <p:nvPr/>
        </p:nvGraphicFramePr>
        <p:xfrm>
          <a:off x="0" y="-8287"/>
          <a:ext cx="9144000" cy="5143450"/>
        </p:xfrm>
        <a:graphic>
          <a:graphicData uri="http://schemas.openxmlformats.org/drawingml/2006/table">
            <a:tbl>
              <a:tblPr>
                <a:noFill/>
                <a:tableStyleId>{00827450-85E5-4037-9B08-230FE2B864AC}</a:tableStyleId>
              </a:tblPr>
              <a:tblGrid>
                <a:gridCol w="110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06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2000" b="1">
                          <a:solidFill>
                            <a:schemeClr val="lt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素材規範</a:t>
                      </a:r>
                      <a:endParaRPr sz="2000" b="1">
                        <a:solidFill>
                          <a:schemeClr val="lt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850">
                <a:tc grid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統一適用後續每支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highlight>
                            <a:srgbClr val="F4CC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廣告素材（商店頁不適用）</a:t>
                      </a:r>
                      <a:r>
                        <a:rPr lang="zh-TW" sz="800" b="1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，並將不在腳本中特別註明</a:t>
                      </a:r>
                      <a:endParaRPr sz="800" b="1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75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類別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說明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規格/ 示意圖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備註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700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00"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尺寸安全框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highlight>
                            <a:srgbClr val="FFF2CC"/>
                          </a:highlight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重點訊息</a:t>
                      </a: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請優先放置於安全區內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147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7825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33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logo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畫面左上置頂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依素材內容套用，若背景太花logo不明顯，加背景相近色的色塊底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37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分級標誌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右下置底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適用台灣遊戲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26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警語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下方置底</a:t>
                      </a:r>
                      <a:endParaRPr sz="1000">
                        <a:solidFill>
                          <a:schemeClr val="dk1"/>
                        </a:solidFill>
                        <a:highlight>
                          <a:srgbClr val="FFF2CC"/>
                        </a:highlight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最小化字級，分行最多不超過兩行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依素材內容套用 (1)文字與背景相近色、(2)文字與文案相近字型、(3)可不加色塊底/ 加背景相近色的色塊底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台灣：這不是一款賭博遊戲，且無任何方式可以贏得金錢獎勵或具有金錢價值的獎品。嚴禁賭博。</a:t>
                      </a:r>
                      <a:b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印尼：Game ini tidak menyediakan aktivitas perjudian apa pun, chips dalam game tidak dapat ditukar dengan uang tunai atau barang nyata lainnya.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chemeClr val="dk1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適用印尼及中文德撲</a:t>
                      </a:r>
                      <a:endParaRPr sz="1000">
                        <a:solidFill>
                          <a:schemeClr val="dk1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0" name="Google Shape;90;p19"/>
          <p:cNvPicPr preferRelativeResize="0"/>
          <p:nvPr/>
        </p:nvPicPr>
        <p:blipFill rotWithShape="1">
          <a:blip r:embed="rId3">
            <a:alphaModFix/>
          </a:blip>
          <a:srcRect l="29687" t="12599" r="3703" b="17012"/>
          <a:stretch/>
        </p:blipFill>
        <p:spPr>
          <a:xfrm>
            <a:off x="2436075" y="1327125"/>
            <a:ext cx="1676449" cy="177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675" y="1712000"/>
            <a:ext cx="2072491" cy="1082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9"/>
          <p:cNvPicPr preferRelativeResize="0"/>
          <p:nvPr/>
        </p:nvPicPr>
        <p:blipFill rotWithShape="1">
          <a:blip r:embed="rId5">
            <a:alphaModFix/>
          </a:blip>
          <a:srcRect t="26714" b="13131"/>
          <a:stretch/>
        </p:blipFill>
        <p:spPr>
          <a:xfrm>
            <a:off x="6351325" y="1409024"/>
            <a:ext cx="2130050" cy="160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875</Words>
  <Application>Microsoft Office PowerPoint</Application>
  <PresentationFormat>如螢幕大小 (16:9)</PresentationFormat>
  <Paragraphs>138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</vt:lpstr>
      <vt:lpstr>Arial</vt:lpstr>
      <vt:lpstr>Simple Light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William</dc:creator>
  <cp:lastModifiedBy>柴怡辰 jhuo.chai</cp:lastModifiedBy>
  <cp:revision>11</cp:revision>
  <dcterms:modified xsi:type="dcterms:W3CDTF">2026-04-27T06:19:10Z</dcterms:modified>
</cp:coreProperties>
</file>