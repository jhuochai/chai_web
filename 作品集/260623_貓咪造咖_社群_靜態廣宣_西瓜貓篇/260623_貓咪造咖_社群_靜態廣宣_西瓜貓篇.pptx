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4" r:id="rId4"/>
    <p:sldId id="263" r:id="rId5"/>
    <p:sldId id="26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5A8"/>
    <a:srgbClr val="DFE5B3"/>
    <a:srgbClr val="EEEFCD"/>
    <a:srgbClr val="BDCFA7"/>
    <a:srgbClr val="FFF7F7"/>
    <a:srgbClr val="FF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7B8F8EC2-5906-993F-B7A2-645077D2A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E3F8ED17-87AD-C0BC-E347-09CF61835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B938107A-AE1C-6AF3-0748-846D11CFB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8751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CAA4AFC1-2C3E-63AD-1EB7-1AE3A3A20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E2319278-03C6-9709-7312-C1B8B95F3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C68C2654-32CB-D605-9CFD-6F8D354BF5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1117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jpe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11" Type="http://schemas.openxmlformats.org/officeDocument/2006/relationships/image" Target="../media/image17.png"/><Relationship Id="rId5" Type="http://schemas.openxmlformats.org/officeDocument/2006/relationships/image" Target="../media/image2.png"/><Relationship Id="rId10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607120436"/>
              </p:ext>
            </p:extLst>
          </p:nvPr>
        </p:nvGraphicFramePr>
        <p:xfrm>
          <a:off x="360000" y="182550"/>
          <a:ext cx="8280050" cy="29106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260623_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社群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西瓜貓篇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Threads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2(</a:t>
                      </a:r>
                      <a:r>
                        <a:rPr lang="zh-TW" altLang="zh-TW" sz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altLang="en-US" sz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兩張</a:t>
                      </a:r>
                      <a:r>
                        <a:rPr lang="zh-TW" altLang="zh-TW" sz="12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zh-TW" altLang="zh-TW" sz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1080*1080</a:t>
                      </a:r>
                      <a:r>
                        <a:rPr lang="zh-TW" altLang="en-US" sz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兩張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172186752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/>
                        <a:t>可愛療癒、不飽和顏色、莫蘭迪綠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喜歡可愛貓咪、關注貓咖新品的用戶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宣傳貓咖新品、介紹台灣水果知識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貼合當季水果引起生活共鳴，並公告通行證新品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3015469083"/>
              </p:ext>
            </p:extLst>
          </p:nvPr>
        </p:nvGraphicFramePr>
        <p:xfrm>
          <a:off x="0" y="0"/>
          <a:ext cx="9143975" cy="51478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1080*1080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18F73AFF-AA17-FD84-1BE8-EB0157BB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74438242-BECA-0457-1A4D-8118014EB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545031"/>
              </p:ext>
            </p:extLst>
          </p:nvPr>
        </p:nvGraphicFramePr>
        <p:xfrm>
          <a:off x="12882" y="-1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D5A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圖片 19">
            <a:extLst>
              <a:ext uri="{FF2B5EF4-FFF2-40B4-BE49-F238E27FC236}">
                <a16:creationId xmlns:a16="http://schemas.microsoft.com/office/drawing/2014/main" id="{334D490E-FB32-E6FB-C511-362959DFAD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656" y="45626"/>
            <a:ext cx="2836014" cy="5040095"/>
          </a:xfrm>
          <a:prstGeom prst="rect">
            <a:avLst/>
          </a:prstGeom>
        </p:spPr>
      </p:pic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77E4DAB4-0610-6A5A-66AA-D5DC02EEED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2877916"/>
              </p:ext>
            </p:extLst>
          </p:nvPr>
        </p:nvGraphicFramePr>
        <p:xfrm flipH="1">
          <a:off x="3614775" y="-1"/>
          <a:ext cx="5529225" cy="2929745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1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左下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背景參考蜜桃貓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底色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以接近西瓜皮的色系為主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莫蘭迪綠，參考色卡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，有西瓜的圖案當浮水印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或請協助設計花紋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邊框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被西瓜藤、小黃花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西瓜花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圍繞的木框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或可跟蜜桃貓一樣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顏色調低飽和度及像素化，不要太搶眼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22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</a:t>
                      </a: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&amp;</a:t>
                      </a: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標題：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字小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水果知識時間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西瓜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字大一點</a:t>
                      </a:r>
                      <a:r>
                        <a:rPr lang="en-US" altLang="zh-TW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lang="zh-TW" altLang="en-US" sz="800" b="1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樣式請參考「蜜桃貓」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請協助文字配色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貓面向前方、坐著吃西瓜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參考下面卡比獸，被兩顆西瓜包圍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co_17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或其他更適合畫面的貓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effectLst/>
                        </a:rPr>
                        <a:t>衣服</a:t>
                      </a:r>
                      <a:r>
                        <a:rPr lang="en-US" altLang="zh-TW" sz="800" dirty="0">
                          <a:effectLst/>
                        </a:rPr>
                        <a:t>:</a:t>
                      </a:r>
                      <a:r>
                        <a:rPr lang="zh-TW" altLang="en-US" sz="800" dirty="0">
                          <a:effectLst/>
                        </a:rPr>
                        <a:t> </a:t>
                      </a:r>
                      <a:r>
                        <a:rPr lang="en-US" altLang="zh-TW" sz="800" dirty="0">
                          <a:effectLst/>
                        </a:rPr>
                        <a:t>he_196</a:t>
                      </a:r>
                      <a:r>
                        <a:rPr lang="zh-TW" altLang="en-US" sz="800" dirty="0">
                          <a:effectLst/>
                        </a:rPr>
                        <a:t>、</a:t>
                      </a:r>
                      <a:r>
                        <a:rPr lang="en-US" altLang="zh-TW" sz="800" dirty="0">
                          <a:effectLst/>
                        </a:rPr>
                        <a:t>bo_212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effectLst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文字分為三個區塊排在右邊</a:t>
                      </a:r>
                      <a:endParaRPr lang="en-US" altLang="zh-TW" sz="800" dirty="0">
                        <a:effectLst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effectLst/>
                        </a:rPr>
                        <a:t>文字標題、內容樣式參考蜜桃貓</a:t>
                      </a:r>
                      <a:endParaRPr lang="en-US" altLang="zh-TW" sz="800" dirty="0">
                        <a:effectLst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effectLst/>
                        </a:rPr>
                        <a:t>請協助文字框框設計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2" name="圖片 31">
            <a:extLst>
              <a:ext uri="{FF2B5EF4-FFF2-40B4-BE49-F238E27FC236}">
                <a16:creationId xmlns:a16="http://schemas.microsoft.com/office/drawing/2014/main" id="{22EC574C-A47F-41B8-A9E7-88B3454909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61" y="4607797"/>
            <a:ext cx="756017" cy="39868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E752B2D-189E-1B3E-7AA1-EFC710B8E0C6}"/>
              </a:ext>
            </a:extLst>
          </p:cNvPr>
          <p:cNvSpPr txBox="1"/>
          <p:nvPr/>
        </p:nvSpPr>
        <p:spPr>
          <a:xfrm>
            <a:off x="905288" y="527626"/>
            <a:ext cx="1829962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水果</a:t>
            </a:r>
            <a:r>
              <a:rPr lang="zh-TW" altLang="en-US" sz="1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知識時間</a:t>
            </a:r>
            <a:r>
              <a:rPr lang="en-US" altLang="zh-TW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r>
              <a:rPr lang="zh-TW" altLang="en-US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lang="en-US" altLang="zh-TW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algn="ctr"/>
            <a:r>
              <a:rPr lang="zh-TW" altLang="en-US" sz="1800" b="1">
                <a:latin typeface="Microsoft JhengHei"/>
                <a:ea typeface="Microsoft JhengHei"/>
                <a:sym typeface="Microsoft JhengHei"/>
              </a:rPr>
              <a:t>西瓜</a:t>
            </a:r>
            <a:endParaRPr lang="zh-TW" altLang="en-US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9C8CE41-BB98-34A2-B75D-B170EB01ECA7}"/>
              </a:ext>
            </a:extLst>
          </p:cNvPr>
          <p:cNvSpPr txBox="1"/>
          <p:nvPr/>
        </p:nvSpPr>
        <p:spPr>
          <a:xfrm>
            <a:off x="2134465" y="1729336"/>
            <a:ext cx="1456621" cy="492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000" b="1" u="sng" dirty="0">
                <a:solidFill>
                  <a:schemeClr val="tx1"/>
                </a:solidFill>
              </a:rPr>
              <a:t>產地與產季</a:t>
            </a:r>
            <a:endParaRPr lang="en-US" altLang="zh-TW" sz="1000" b="1" u="sng" dirty="0">
              <a:solidFill>
                <a:schemeClr val="tx1"/>
              </a:solidFill>
            </a:endParaRPr>
          </a:p>
          <a:p>
            <a:r>
              <a:rPr lang="en-US" altLang="zh-TW" sz="800" dirty="0">
                <a:solidFill>
                  <a:schemeClr val="tx1"/>
                </a:solidFill>
              </a:rPr>
              <a:t>3</a:t>
            </a:r>
            <a:r>
              <a:rPr lang="zh-TW" altLang="en-US" sz="800" dirty="0">
                <a:solidFill>
                  <a:schemeClr val="tx1"/>
                </a:solidFill>
              </a:rPr>
              <a:t>月 </a:t>
            </a:r>
            <a:r>
              <a:rPr lang="en-US" altLang="zh-TW" sz="800" dirty="0">
                <a:solidFill>
                  <a:schemeClr val="tx1"/>
                </a:solidFill>
              </a:rPr>
              <a:t>~</a:t>
            </a:r>
            <a:r>
              <a:rPr lang="zh-TW" altLang="en-US" sz="800" dirty="0">
                <a:solidFill>
                  <a:schemeClr val="tx1"/>
                </a:solidFill>
              </a:rPr>
              <a:t> </a:t>
            </a:r>
            <a:r>
              <a:rPr lang="en-US" altLang="zh-TW" sz="800" dirty="0">
                <a:solidFill>
                  <a:schemeClr val="tx1"/>
                </a:solidFill>
              </a:rPr>
              <a:t>11</a:t>
            </a:r>
            <a:r>
              <a:rPr lang="zh-TW" altLang="en-US" sz="800" dirty="0">
                <a:solidFill>
                  <a:schemeClr val="tx1"/>
                </a:solidFill>
              </a:rPr>
              <a:t>月</a:t>
            </a:r>
            <a:endParaRPr lang="en-US" altLang="zh-TW" sz="800" dirty="0">
              <a:solidFill>
                <a:schemeClr val="tx1"/>
              </a:solidFill>
            </a:endParaRPr>
          </a:p>
          <a:p>
            <a:r>
              <a:rPr lang="zh-TW" altLang="en-US" sz="800" dirty="0">
                <a:solidFill>
                  <a:schemeClr val="tx1"/>
                </a:solidFill>
              </a:rPr>
              <a:t>花蓮、屏東、雲林、台南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824115F-E326-75BC-0030-C06AF99B5686}"/>
              </a:ext>
            </a:extLst>
          </p:cNvPr>
          <p:cNvSpPr txBox="1"/>
          <p:nvPr/>
        </p:nvSpPr>
        <p:spPr>
          <a:xfrm>
            <a:off x="2141656" y="2441087"/>
            <a:ext cx="1418519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000" b="1" u="sng" dirty="0">
                <a:solidFill>
                  <a:schemeClr val="tx1"/>
                </a:solidFill>
              </a:rPr>
              <a:t>如何挑選</a:t>
            </a:r>
            <a:endParaRPr lang="en-US" altLang="zh-TW" sz="1000" b="1" u="sng" dirty="0">
              <a:solidFill>
                <a:schemeClr val="tx1"/>
              </a:solidFill>
            </a:endParaRPr>
          </a:p>
          <a:p>
            <a:endParaRPr lang="en-US" altLang="zh-TW" sz="200" b="1" u="sng" dirty="0">
              <a:solidFill>
                <a:schemeClr val="tx1"/>
              </a:solidFill>
            </a:endParaRPr>
          </a:p>
          <a:p>
            <a:pPr algn="ctr"/>
            <a:r>
              <a:rPr lang="zh-TW" altLang="en-US" sz="800" dirty="0">
                <a:solidFill>
                  <a:schemeClr val="tx1"/>
                </a:solidFill>
              </a:rPr>
              <a:t>果梗新鮮、表皮紋路鮮明</a:t>
            </a:r>
            <a:endParaRPr lang="en-US" altLang="zh-TW" sz="800" dirty="0">
              <a:solidFill>
                <a:schemeClr val="tx1"/>
              </a:solidFill>
            </a:endParaRPr>
          </a:p>
          <a:p>
            <a:pPr algn="ctr"/>
            <a:r>
              <a:rPr lang="zh-TW" altLang="en-US" sz="800" dirty="0">
                <a:solidFill>
                  <a:schemeClr val="tx1"/>
                </a:solidFill>
              </a:rPr>
              <a:t>輕彈有清脆的聲音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9F00B9E-E4F8-9638-4D6F-222DB615B965}"/>
              </a:ext>
            </a:extLst>
          </p:cNvPr>
          <p:cNvSpPr txBox="1"/>
          <p:nvPr/>
        </p:nvSpPr>
        <p:spPr>
          <a:xfrm>
            <a:off x="2134465" y="3322370"/>
            <a:ext cx="1418519" cy="492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000" b="1" u="sng" dirty="0">
                <a:solidFill>
                  <a:schemeClr val="tx1"/>
                </a:solidFill>
              </a:rPr>
              <a:t>保存</a:t>
            </a:r>
            <a:endParaRPr lang="en-US" altLang="zh-TW" sz="1000" b="1" u="sng" dirty="0">
              <a:solidFill>
                <a:schemeClr val="tx1"/>
              </a:solidFill>
            </a:endParaRPr>
          </a:p>
          <a:p>
            <a:r>
              <a:rPr lang="zh-TW" altLang="en-US" sz="800" dirty="0"/>
              <a:t>未切開</a:t>
            </a:r>
            <a:r>
              <a:rPr lang="en-US" altLang="zh-TW" sz="800" dirty="0"/>
              <a:t>:</a:t>
            </a:r>
            <a:r>
              <a:rPr lang="zh-TW" altLang="en-US" sz="800" dirty="0"/>
              <a:t> </a:t>
            </a:r>
            <a:r>
              <a:rPr lang="zh-TW" altLang="zh-TW" sz="800" dirty="0"/>
              <a:t>冷藏</a:t>
            </a:r>
            <a:r>
              <a:rPr lang="zh-TW" altLang="en-US" sz="800" dirty="0"/>
              <a:t>可保存</a:t>
            </a:r>
            <a:r>
              <a:rPr lang="zh-TW" altLang="zh-TW" sz="800" dirty="0"/>
              <a:t> 2</a:t>
            </a:r>
            <a:r>
              <a:rPr lang="en-US" altLang="zh-TW" sz="800" dirty="0"/>
              <a:t>~</a:t>
            </a:r>
            <a:r>
              <a:rPr lang="zh-TW" altLang="zh-TW" sz="800" dirty="0"/>
              <a:t>3 週</a:t>
            </a:r>
            <a:br>
              <a:rPr lang="en-US" altLang="zh-TW" sz="800" dirty="0"/>
            </a:br>
            <a:r>
              <a:rPr lang="zh-TW" altLang="en-US" sz="800" dirty="0"/>
              <a:t>切開</a:t>
            </a:r>
            <a:r>
              <a:rPr lang="en-US" altLang="zh-TW" sz="800" dirty="0"/>
              <a:t>:</a:t>
            </a:r>
            <a:r>
              <a:rPr lang="zh-TW" altLang="en-US" sz="800" dirty="0"/>
              <a:t> 密封冷藏 </a:t>
            </a:r>
            <a:r>
              <a:rPr lang="en-US" altLang="zh-TW" sz="800" dirty="0"/>
              <a:t>2~3</a:t>
            </a:r>
            <a:r>
              <a:rPr lang="zh-TW" altLang="en-US" sz="800" dirty="0"/>
              <a:t> 天</a:t>
            </a:r>
            <a:endParaRPr lang="en-US" altLang="zh-TW" sz="1000" b="1" dirty="0">
              <a:solidFill>
                <a:schemeClr val="tx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C6D55EF-BB9F-FF22-86B0-63F4C4F797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3153721"/>
            <a:ext cx="1545600" cy="1932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C7E865D-DE8A-7CA4-639A-B0958D958EE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4327" b="66195"/>
          <a:stretch>
            <a:fillRect/>
          </a:stretch>
        </p:blipFill>
        <p:spPr>
          <a:xfrm>
            <a:off x="3814048" y="3814813"/>
            <a:ext cx="1852462" cy="127090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3765D00-8422-9F62-7A68-DE17DB6A7F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8520" y="1386886"/>
            <a:ext cx="1402598" cy="154285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3F91D17-C8D4-6776-34DD-A13A6BCDA5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833948" y="2981058"/>
            <a:ext cx="1258497" cy="833755"/>
          </a:xfrm>
          <a:prstGeom prst="rect">
            <a:avLst/>
          </a:prstGeom>
        </p:spPr>
      </p:pic>
      <p:pic>
        <p:nvPicPr>
          <p:cNvPr id="30" name="圖片 29" descr="像素艺术西瓜图标。32x32像素。矢量插图向量例证. 插画包括有可口, 饮食, 比绍, 动画片, 甜瓜- 180013991">
            <a:extLst>
              <a:ext uri="{FF2B5EF4-FFF2-40B4-BE49-F238E27FC236}">
                <a16:creationId xmlns:a16="http://schemas.microsoft.com/office/drawing/2014/main" id="{5D18E819-8477-9073-FE1F-847634BD4D9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793" t="26674" r="51602" b="10780"/>
          <a:stretch>
            <a:fillRect/>
          </a:stretch>
        </p:blipFill>
        <p:spPr>
          <a:xfrm rot="21356020">
            <a:off x="306595" y="2866115"/>
            <a:ext cx="882864" cy="83893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19520EAB-2A21-0F97-6D38-A0712FAB7AC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5612" t="34777" r="21720"/>
          <a:stretch>
            <a:fillRect/>
          </a:stretch>
        </p:blipFill>
        <p:spPr>
          <a:xfrm flipH="1">
            <a:off x="755072" y="2071255"/>
            <a:ext cx="1059595" cy="1584526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AC4A221A-ACCA-38BF-DA6E-3B752BA02DE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0349" t="20886" r="9099" b="19494"/>
          <a:stretch>
            <a:fillRect/>
          </a:stretch>
        </p:blipFill>
        <p:spPr>
          <a:xfrm flipH="1">
            <a:off x="387926" y="1640027"/>
            <a:ext cx="1627910" cy="1506117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BFBBFFDE-7599-DA80-6934-AABC4896EA1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4808" t="35245" r="19714" b="29229"/>
          <a:stretch>
            <a:fillRect/>
          </a:stretch>
        </p:blipFill>
        <p:spPr>
          <a:xfrm>
            <a:off x="866656" y="3055928"/>
            <a:ext cx="834884" cy="566224"/>
          </a:xfrm>
          <a:prstGeom prst="rect">
            <a:avLst/>
          </a:prstGeom>
        </p:spPr>
      </p:pic>
      <p:pic>
        <p:nvPicPr>
          <p:cNvPr id="35" name="圖片 34" descr="像素艺术西瓜图标。32x32像素。矢量插图向量例证. 插画包括有可口, 饮食, 比绍, 动画片, 甜瓜- 180013991">
            <a:extLst>
              <a:ext uri="{FF2B5EF4-FFF2-40B4-BE49-F238E27FC236}">
                <a16:creationId xmlns:a16="http://schemas.microsoft.com/office/drawing/2014/main" id="{36134B16-58E1-6DA9-4007-6751558F7FE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793" t="26674" r="51602" b="10780"/>
          <a:stretch>
            <a:fillRect/>
          </a:stretch>
        </p:blipFill>
        <p:spPr>
          <a:xfrm rot="1363274">
            <a:off x="1447083" y="3080023"/>
            <a:ext cx="634051" cy="602502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8930551E-43B3-4EF1-596E-B378E55D87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6699" y="2753389"/>
            <a:ext cx="1344892" cy="23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79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6C28FED7-179F-BECC-DEB6-0BF98320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A976EFC-3393-B7B4-3621-58DFC22F6E84}"/>
              </a:ext>
            </a:extLst>
          </p:cNvPr>
          <p:cNvSpPr/>
          <p:nvPr/>
        </p:nvSpPr>
        <p:spPr>
          <a:xfrm>
            <a:off x="12882" y="0"/>
            <a:ext cx="3601893" cy="5143500"/>
          </a:xfrm>
          <a:prstGeom prst="rect">
            <a:avLst/>
          </a:prstGeom>
          <a:solidFill>
            <a:srgbClr val="C3D5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51D833AD-4E37-7DA2-D3EC-FB9F42845C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656" y="45626"/>
            <a:ext cx="2836014" cy="5040095"/>
          </a:xfrm>
          <a:prstGeom prst="rect">
            <a:avLst/>
          </a:prstGeom>
        </p:spPr>
      </p:pic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C92D3D7E-8BD6-32AF-BC26-154D4489F0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743944"/>
              </p:ext>
            </p:extLst>
          </p:nvPr>
        </p:nvGraphicFramePr>
        <p:xfrm flipH="1">
          <a:off x="3614775" y="-1"/>
          <a:ext cx="5529225" cy="3017239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1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左下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背景參考蜜桃貓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底色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以接近西瓜皮的色系為主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莫蘭迪綠，參考色卡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，有西瓜的圖案當浮水印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或請協助設計花紋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altLang="en-US" sz="8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邊框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被西瓜藤、小黃花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西瓜花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圍繞的木框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或可跟蜜桃花一樣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顏色調低飽和度及像素化，不要太搶眼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4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</a:t>
                      </a: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&amp;</a:t>
                      </a: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展示蜜桃系列新品，新品註解如左示意圖 </a:t>
                      </a:r>
                      <a:r>
                        <a:rPr lang="en-US" altLang="zh-TW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星星改西瓜瓣</a:t>
                      </a:r>
                      <a:r>
                        <a:rPr lang="en-US" altLang="zh-TW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br>
                        <a:rPr lang="en-US" altLang="zh-TW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endParaRPr lang="en-US" altLang="zh-TW" sz="800" b="0" i="0" u="none" strike="noStrike" cap="none" dirty="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西瓜貓咪：</a:t>
                      </a:r>
                      <a:r>
                        <a:rPr lang="zh-TW" altLang="zh-TW" sz="800" dirty="0"/>
                        <a:t>co_74</a:t>
                      </a:r>
                      <a:endParaRPr lang="en-US" altLang="zh-TW" sz="800" b="0" i="0" u="none" strike="noStrike" cap="none" dirty="0">
                        <a:solidFill>
                          <a:srgbClr val="FF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裝扮</a:t>
                      </a:r>
                      <a:r>
                        <a:rPr lang="en-US" altLang="zh-TW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co_4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或其他更適合畫面的貓</a:t>
                      </a:r>
                      <a:r>
                        <a:rPr lang="en-US" altLang="zh-TW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endParaRPr lang="en-US" altLang="zh-TW" sz="800" b="0" i="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800" dirty="0"/>
                        <a:t>Q</a:t>
                      </a:r>
                      <a:r>
                        <a:rPr lang="zh-TW" altLang="en-US" sz="800" dirty="0"/>
                        <a:t>版</a:t>
                      </a:r>
                      <a:r>
                        <a:rPr lang="en-US" altLang="zh-TW" sz="800" dirty="0"/>
                        <a:t>:</a:t>
                      </a:r>
                      <a:r>
                        <a:rPr lang="en-US" altLang="zh-TW" sz="800" dirty="0">
                          <a:effectLst/>
                        </a:rPr>
                        <a:t>he_195</a:t>
                      </a:r>
                      <a:r>
                        <a:rPr lang="zh-TW" altLang="en-US" sz="800" dirty="0">
                          <a:effectLst/>
                        </a:rPr>
                        <a:t>、</a:t>
                      </a:r>
                      <a:r>
                        <a:rPr lang="en-US" altLang="zh-TW" sz="800" dirty="0">
                          <a:effectLst/>
                        </a:rPr>
                        <a:t>bo_212</a:t>
                      </a:r>
                      <a:endParaRPr lang="en-US" altLang="zh-TW" sz="8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800" dirty="0"/>
                        <a:t>男</a:t>
                      </a:r>
                      <a:r>
                        <a:rPr lang="en-US" altLang="zh-TW" sz="800" dirty="0"/>
                        <a:t>:</a:t>
                      </a:r>
                      <a:r>
                        <a:rPr lang="zh-TW" altLang="en-US" sz="800" dirty="0"/>
                        <a:t> </a:t>
                      </a:r>
                      <a:r>
                        <a:rPr lang="en-US" altLang="zh-TW" sz="800" dirty="0"/>
                        <a:t>he_196</a:t>
                      </a:r>
                      <a:r>
                        <a:rPr lang="zh-TW" altLang="en-US" sz="800" dirty="0"/>
                        <a:t>、</a:t>
                      </a:r>
                      <a:r>
                        <a:rPr lang="en-US" altLang="zh-TW" sz="800" dirty="0">
                          <a:effectLst/>
                        </a:rPr>
                        <a:t>bo_213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800" dirty="0"/>
                        <a:t>女</a:t>
                      </a:r>
                      <a:r>
                        <a:rPr lang="en-US" altLang="zh-TW" sz="800" dirty="0"/>
                        <a:t>:</a:t>
                      </a:r>
                      <a:r>
                        <a:rPr lang="zh-TW" altLang="en-US" sz="800" dirty="0"/>
                        <a:t> </a:t>
                      </a:r>
                      <a:r>
                        <a:rPr lang="en-US" altLang="zh-TW" sz="800" dirty="0"/>
                        <a:t>he_197</a:t>
                      </a:r>
                      <a:r>
                        <a:rPr lang="zh-TW" altLang="en-US" sz="800" dirty="0"/>
                        <a:t>、</a:t>
                      </a:r>
                      <a:r>
                        <a:rPr lang="en-US" altLang="zh-TW" sz="800" dirty="0">
                          <a:effectLst/>
                        </a:rPr>
                        <a:t>ot_75</a:t>
                      </a:r>
                      <a:r>
                        <a:rPr lang="zh-TW" altLang="en-US" sz="800" dirty="0">
                          <a:effectLst/>
                        </a:rPr>
                        <a:t>、</a:t>
                      </a:r>
                      <a:r>
                        <a:rPr lang="en-US" altLang="zh-TW" sz="800" dirty="0">
                          <a:effectLst/>
                        </a:rPr>
                        <a:t>bo_214</a:t>
                      </a:r>
                      <a:r>
                        <a:rPr lang="zh-TW" altLang="en-US" sz="800" dirty="0">
                          <a:effectLst/>
                        </a:rPr>
                        <a:t>、</a:t>
                      </a:r>
                      <a:r>
                        <a:rPr lang="en-US" altLang="zh-TW" sz="800" dirty="0">
                          <a:effectLst/>
                        </a:rPr>
                        <a:t>ba_125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b="0" i="0" u="none" strike="noStrike" cap="none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b="0" i="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* 可以搭配其他合適花色的貓咪來呈現</a:t>
                      </a:r>
                      <a:endParaRPr lang="en-US" altLang="zh-TW" sz="800" b="0" i="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AB1C2DA-F897-656E-AAF1-B83BE6303905}"/>
              </a:ext>
            </a:extLst>
          </p:cNvPr>
          <p:cNvSpPr txBox="1"/>
          <p:nvPr/>
        </p:nvSpPr>
        <p:spPr>
          <a:xfrm>
            <a:off x="1185529" y="1162166"/>
            <a:ext cx="1082749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西瓜月新品</a:t>
            </a:r>
            <a:endParaRPr lang="en-US" altLang="zh-TW" sz="1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B7C1E35-F721-5DA3-5A61-3F0EF21A01FE}"/>
              </a:ext>
            </a:extLst>
          </p:cNvPr>
          <p:cNvSpPr txBox="1"/>
          <p:nvPr/>
        </p:nvSpPr>
        <p:spPr>
          <a:xfrm>
            <a:off x="1924050" y="2523606"/>
            <a:ext cx="971075" cy="253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050" dirty="0"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1050" dirty="0">
                <a:latin typeface="Microsoft JhengHei"/>
                <a:ea typeface="Microsoft JhengHei"/>
                <a:cs typeface="Microsoft JhengHei"/>
                <a:sym typeface="Microsoft JhengHei"/>
              </a:rPr>
              <a:t>版西瓜裝</a:t>
            </a:r>
            <a:endParaRPr lang="en-US" altLang="zh-TW" sz="105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F76F3A-F8D9-DF0B-9634-032C719A103D}"/>
              </a:ext>
            </a:extLst>
          </p:cNvPr>
          <p:cNvSpPr txBox="1"/>
          <p:nvPr/>
        </p:nvSpPr>
        <p:spPr>
          <a:xfrm>
            <a:off x="728361" y="4145560"/>
            <a:ext cx="971075" cy="253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05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西瓜</a:t>
            </a:r>
            <a:r>
              <a:rPr lang="zh-TW" altLang="en-US" sz="1050" dirty="0">
                <a:latin typeface="Microsoft JhengHei"/>
                <a:ea typeface="Microsoft JhengHei"/>
                <a:cs typeface="Microsoft JhengHei"/>
                <a:sym typeface="Microsoft JhengHei"/>
              </a:rPr>
              <a:t>紳士</a:t>
            </a:r>
            <a:endParaRPr lang="en-US" altLang="zh-TW" sz="105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11E6062-D951-3387-E225-446A61B76C78}"/>
              </a:ext>
            </a:extLst>
          </p:cNvPr>
          <p:cNvSpPr txBox="1"/>
          <p:nvPr/>
        </p:nvSpPr>
        <p:spPr>
          <a:xfrm>
            <a:off x="754944" y="2517104"/>
            <a:ext cx="733117" cy="253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050" dirty="0">
                <a:latin typeface="Microsoft JhengHei"/>
                <a:ea typeface="Microsoft JhengHei"/>
                <a:cs typeface="Microsoft JhengHei"/>
                <a:sym typeface="Microsoft JhengHei"/>
              </a:rPr>
              <a:t>西瓜貓</a:t>
            </a:r>
            <a:endParaRPr lang="en-US" altLang="zh-TW" sz="105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39ED4A9-DCEA-0783-93D9-1323AF91E6D3}"/>
              </a:ext>
            </a:extLst>
          </p:cNvPr>
          <p:cNvSpPr txBox="1"/>
          <p:nvPr/>
        </p:nvSpPr>
        <p:spPr>
          <a:xfrm>
            <a:off x="1990172" y="4145560"/>
            <a:ext cx="971075" cy="253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TW" altLang="en-US" sz="1050" dirty="0">
                <a:latin typeface="Microsoft JhengHei"/>
                <a:ea typeface="Microsoft JhengHei"/>
                <a:cs typeface="Microsoft JhengHei"/>
                <a:sym typeface="Microsoft JhengHei"/>
              </a:rPr>
              <a:t>甜蜜蜜桃</a:t>
            </a:r>
            <a:endParaRPr lang="en-US" altLang="zh-TW" sz="105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B0C801E8-CD7B-3E5A-A9F7-4119A48CD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47" y="4682298"/>
            <a:ext cx="756017" cy="39868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C001B371-BA5F-B4AC-D184-FF009D5B9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0209" y="2121713"/>
            <a:ext cx="2413792" cy="3017239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CB9F7968-8C65-F607-D782-8FC5E8F7E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177" y="1389781"/>
            <a:ext cx="1009650" cy="121920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C59C8CCA-AF8C-782F-A5B4-458A83CE3E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066639" y="1513152"/>
            <a:ext cx="685895" cy="924054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42D29AB-4E6A-3164-EB63-E238DC56AD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83113" y="3160217"/>
            <a:ext cx="704948" cy="914527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BFF8654D-D5A6-90EA-01BC-35950E664A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2444" y="3226988"/>
            <a:ext cx="2420881" cy="259024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1B11FDD0-DB90-B785-E688-C0C9BFD364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47369" y="3226988"/>
            <a:ext cx="847756" cy="847756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ADE55169-0FF4-3216-F75F-892104FA5B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5444">
            <a:off x="2098677" y="3041084"/>
            <a:ext cx="611328" cy="76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1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2036</TotalTime>
  <Words>1019</Words>
  <Application>Microsoft Office PowerPoint</Application>
  <PresentationFormat>如螢幕大小 (16:9)</PresentationFormat>
  <Paragraphs>137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23</cp:revision>
  <dcterms:modified xsi:type="dcterms:W3CDTF">2026-06-23T09:55:50Z</dcterms:modified>
</cp:coreProperties>
</file>