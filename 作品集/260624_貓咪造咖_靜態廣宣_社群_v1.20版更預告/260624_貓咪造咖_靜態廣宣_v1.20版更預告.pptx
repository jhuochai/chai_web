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6" r:id="rId4"/>
    <p:sldId id="269" r:id="rId5"/>
    <p:sldId id="271" r:id="rId6"/>
    <p:sldId id="268" r:id="rId7"/>
    <p:sldId id="270" r:id="rId8"/>
    <p:sldId id="265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E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BCB22-5DEB-4D4A-AEB1-C0894EA97893}" styleName="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8" cap="flat" cmpd="sng" algn="ctr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8" cap="flat" cmpd="sng" algn="ctr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8" cap="flat" cmpd="sng" algn="ctr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8" cap="flat" cmpd="sng" algn="ctr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TxStyle>
        <a:font>
          <a:latin typeface=""/>
          <a:ea typeface=""/>
          <a:cs typeface=""/>
        </a:font>
      </a:tcTxStyle>
      <a:tcStyle>
        <a:tcBdr/>
      </a:tcStyle>
    </a:band1H>
    <a:band2H>
      <a:tcTxStyle>
        <a:font>
          <a:latin typeface=""/>
          <a:ea typeface=""/>
          <a:cs typeface=""/>
        </a:font>
      </a:tcTxStyle>
      <a:tcStyle>
        <a:tcBdr/>
      </a:tcStyle>
    </a:band2H>
    <a:band1V>
      <a:tcTxStyle>
        <a:font>
          <a:latin typeface=""/>
          <a:ea typeface=""/>
          <a:cs typeface=""/>
        </a:font>
      </a:tcTxStyle>
      <a:tcStyle>
        <a:tcBdr/>
      </a:tcStyle>
    </a:band1V>
    <a:band2V>
      <a:tcTxStyle>
        <a:font>
          <a:latin typeface=""/>
          <a:ea typeface=""/>
          <a:cs typeface=""/>
        </a:font>
      </a:tcTxStyle>
      <a:tcStyle>
        <a:tcBdr/>
      </a:tcStyle>
    </a:band2V>
    <a:lastCol>
      <a:tcTxStyle>
        <a:font>
          <a:latin typeface=""/>
          <a:ea typeface=""/>
          <a:cs typeface=""/>
        </a:font>
      </a:tcTxStyle>
      <a:tcStyle>
        <a:tcBdr/>
      </a:tcStyle>
    </a:lastCol>
    <a:firstCol>
      <a:tcTxStyle>
        <a:font>
          <a:latin typeface=""/>
          <a:ea typeface=""/>
          <a:cs typeface=""/>
        </a:font>
      </a:tcTxStyle>
      <a:tcStyle>
        <a:tcBdr/>
      </a:tcStyle>
    </a:firstCol>
    <a:lastRow>
      <a:tcTxStyle>
        <a:font>
          <a:latin typeface=""/>
          <a:ea typeface=""/>
          <a:cs typeface=""/>
        </a:font>
      </a:tcTxStyle>
      <a:tcStyle>
        <a:tcBdr/>
      </a:tcStyle>
    </a:lastRow>
    <a:firstRow>
      <a:tcTxStyle>
        <a:font>
          <a:latin typeface=""/>
          <a:ea typeface=""/>
          <a:cs typeface=""/>
        </a:font>
      </a:tcTxStyle>
      <a:tcStyle>
        <a:tcBdr/>
      </a:tcStyle>
    </a:firstRow>
  </a:tblStyle>
  <a:tblStyle styleId="{00827450-85E5-4037-9B08-230FE2B864AC}" styleName="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>
        <a:font>
          <a:latin typeface=""/>
          <a:ea typeface=""/>
          <a:cs typeface=""/>
        </a:font>
      </a:tcTxStyle>
      <a:tcStyle>
        <a:tcBdr/>
      </a:tcStyle>
    </a:band1H>
    <a:band2H>
      <a:tcTxStyle>
        <a:font>
          <a:latin typeface=""/>
          <a:ea typeface=""/>
          <a:cs typeface=""/>
        </a:font>
      </a:tcTxStyle>
      <a:tcStyle>
        <a:tcBdr/>
      </a:tcStyle>
    </a:band2H>
    <a:band1V>
      <a:tcTxStyle>
        <a:font>
          <a:latin typeface=""/>
          <a:ea typeface=""/>
          <a:cs typeface=""/>
        </a:font>
      </a:tcTxStyle>
      <a:tcStyle>
        <a:tcBdr/>
      </a:tcStyle>
    </a:band1V>
    <a:band2V>
      <a:tcTxStyle>
        <a:font>
          <a:latin typeface=""/>
          <a:ea typeface=""/>
          <a:cs typeface=""/>
        </a:font>
      </a:tcTxStyle>
      <a:tcStyle>
        <a:tcBdr/>
      </a:tcStyle>
    </a:band2V>
    <a:lastCol>
      <a:tcTxStyle>
        <a:font>
          <a:latin typeface=""/>
          <a:ea typeface=""/>
          <a:cs typeface=""/>
        </a:font>
      </a:tcTxStyle>
      <a:tcStyle>
        <a:tcBdr/>
      </a:tcStyle>
    </a:lastCol>
    <a:firstCol>
      <a:tcTxStyle>
        <a:font>
          <a:latin typeface=""/>
          <a:ea typeface=""/>
          <a:cs typeface=""/>
        </a:font>
      </a:tcTxStyle>
      <a:tcStyle>
        <a:tcBdr/>
      </a:tcStyle>
    </a:firstCol>
    <a:lastRow>
      <a:tcTxStyle>
        <a:font>
          <a:latin typeface=""/>
          <a:ea typeface=""/>
          <a:cs typeface=""/>
        </a:font>
      </a:tcTxStyle>
      <a:tcStyle>
        <a:tcBdr/>
      </a:tcStyle>
    </a:lastRow>
    <a:firstRow>
      <a:tcTxStyle>
        <a:font>
          <a:latin typeface=""/>
          <a:ea typeface=""/>
          <a:cs typeface=""/>
        </a:font>
      </a:tcTxStyle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>
            <a:extLst>
              <a:ext uri="{FF2B5EF4-FFF2-40B4-BE49-F238E27FC236}">
                <a16:creationId xmlns:a16="http://schemas.microsoft.com/office/drawing/2014/main" id="{66F2BFC5-CF44-1811-1C75-39399EFA8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295" y="685800"/>
            <a:ext cx="6096076" cy="3429000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round/>
          </a:ln>
        </p:spPr>
      </p:sp>
      <p:sp>
        <p:nvSpPr>
          <p:cNvPr id="3" name="Google Shape;4;n">
            <a:extLst>
              <a:ext uri="{FF2B5EF4-FFF2-40B4-BE49-F238E27FC236}">
                <a16:creationId xmlns:a16="http://schemas.microsoft.com/office/drawing/2014/main" id="{72F3CFA6-4F24-4E5C-C079-B5576D9481A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75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0" marR="0" lvl="0" indent="-298451" algn="l" defTabSz="914400" rtl="0" fontAlgn="auto" hangingPunct="1">
      <a:lnSpc>
        <a:spcPct val="100000"/>
      </a:lnSpc>
      <a:spcBef>
        <a:spcPts val="0"/>
      </a:spcBef>
      <a:spcAft>
        <a:spcPts val="0"/>
      </a:spcAft>
      <a:buClr>
        <a:srgbClr val="000000"/>
      </a:buClr>
      <a:buSzPts val="1100"/>
      <a:buFont typeface="Arial"/>
      <a:buChar char="●"/>
      <a:tabLst/>
      <a:defRPr lang="zh-TW" altLang="en-US" sz="1100" b="0" i="0" u="none" strike="noStrike" kern="0" cap="none" spc="0" baseline="0">
        <a:solidFill>
          <a:srgbClr val="000000"/>
        </a:solidFill>
        <a:uFillTx/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g373ce70d4ea_0_0:notes">
            <a:extLst>
              <a:ext uri="{FF2B5EF4-FFF2-40B4-BE49-F238E27FC236}">
                <a16:creationId xmlns:a16="http://schemas.microsoft.com/office/drawing/2014/main" id="{5AA581D3-C33E-0AC1-8520-5A6EA2CF9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52;g373ce70d4ea_0_0:notes">
            <a:extLst>
              <a:ext uri="{FF2B5EF4-FFF2-40B4-BE49-F238E27FC236}">
                <a16:creationId xmlns:a16="http://schemas.microsoft.com/office/drawing/2014/main" id="{B3489D67-B3A6-44BA-7F74-F27875B239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5384D0-C6C2-DA5D-9A15-6607B857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g36f67f4b9b1_5_37:notes">
            <a:extLst>
              <a:ext uri="{FF2B5EF4-FFF2-40B4-BE49-F238E27FC236}">
                <a16:creationId xmlns:a16="http://schemas.microsoft.com/office/drawing/2014/main" id="{76F28672-9725-9826-ED35-B980D3738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1;g36f67f4b9b1_5_37:notes">
            <a:extLst>
              <a:ext uri="{FF2B5EF4-FFF2-40B4-BE49-F238E27FC236}">
                <a16:creationId xmlns:a16="http://schemas.microsoft.com/office/drawing/2014/main" id="{FCD66747-CE07-67B6-8128-315F92F987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34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142C42-A32D-E7B4-55BC-FFD18852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g36f67f4b9b1_5_37:notes">
            <a:extLst>
              <a:ext uri="{FF2B5EF4-FFF2-40B4-BE49-F238E27FC236}">
                <a16:creationId xmlns:a16="http://schemas.microsoft.com/office/drawing/2014/main" id="{E282D43B-7142-EC92-3E38-C577AFE0E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1;g36f67f4b9b1_5_37:notes">
            <a:extLst>
              <a:ext uri="{FF2B5EF4-FFF2-40B4-BE49-F238E27FC236}">
                <a16:creationId xmlns:a16="http://schemas.microsoft.com/office/drawing/2014/main" id="{3AB100CA-8E19-34FC-BA2E-05C581274F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393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45309D-5888-8DDB-F829-B3D07050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g36f67f4b9b1_5_37:notes">
            <a:extLst>
              <a:ext uri="{FF2B5EF4-FFF2-40B4-BE49-F238E27FC236}">
                <a16:creationId xmlns:a16="http://schemas.microsoft.com/office/drawing/2014/main" id="{C65F6E5D-EEB1-2F26-8850-6BBDF54C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1;g36f67f4b9b1_5_37:notes">
            <a:extLst>
              <a:ext uri="{FF2B5EF4-FFF2-40B4-BE49-F238E27FC236}">
                <a16:creationId xmlns:a16="http://schemas.microsoft.com/office/drawing/2014/main" id="{FBDC2F79-5B38-42ED-54BB-7A8B47C59C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78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C48A6C-DBAD-36D8-5933-EC91696A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g36f67f4b9b1_5_37:notes">
            <a:extLst>
              <a:ext uri="{FF2B5EF4-FFF2-40B4-BE49-F238E27FC236}">
                <a16:creationId xmlns:a16="http://schemas.microsoft.com/office/drawing/2014/main" id="{2BE0FA2D-3FAC-5FE2-06E3-086F2141E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1;g36f67f4b9b1_5_37:notes">
            <a:extLst>
              <a:ext uri="{FF2B5EF4-FFF2-40B4-BE49-F238E27FC236}">
                <a16:creationId xmlns:a16="http://schemas.microsoft.com/office/drawing/2014/main" id="{50F6C659-71C8-1041-C84F-C55E7D1A13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123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0407C8-629C-475B-3995-F29B075B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g36f67f4b9b1_5_37:notes">
            <a:extLst>
              <a:ext uri="{FF2B5EF4-FFF2-40B4-BE49-F238E27FC236}">
                <a16:creationId xmlns:a16="http://schemas.microsoft.com/office/drawing/2014/main" id="{A55C6768-3175-BF31-639C-40D45175F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1;g36f67f4b9b1_5_37:notes">
            <a:extLst>
              <a:ext uri="{FF2B5EF4-FFF2-40B4-BE49-F238E27FC236}">
                <a16:creationId xmlns:a16="http://schemas.microsoft.com/office/drawing/2014/main" id="{800FBAB1-FE3B-86DC-021C-21FBE32217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182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7D9E52CA-C783-F600-D81C-E0E0BDE5F98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9" y="744577"/>
            <a:ext cx="8520598" cy="2052599"/>
          </a:xfrm>
        </p:spPr>
        <p:txBody>
          <a:bodyPr anchor="b" anchorCtr="1"/>
          <a:lstStyle>
            <a:lvl1pPr algn="ctr">
              <a:defRPr sz="5200"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11;p2">
            <a:extLst>
              <a:ext uri="{FF2B5EF4-FFF2-40B4-BE49-F238E27FC236}">
                <a16:creationId xmlns:a16="http://schemas.microsoft.com/office/drawing/2014/main" id="{24A39C11-13F4-380E-C610-89FC7EB331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7"/>
            <a:ext cx="8520598" cy="792601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800"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12;p2">
            <a:extLst>
              <a:ext uri="{FF2B5EF4-FFF2-40B4-BE49-F238E27FC236}">
                <a16:creationId xmlns:a16="http://schemas.microsoft.com/office/drawing/2014/main" id="{588757E2-F56D-3AFA-B3F1-26D4D0823B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2D8096-62D9-412A-8E17-0C368C73EAB0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7568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>
            <a:extLst>
              <a:ext uri="{FF2B5EF4-FFF2-40B4-BE49-F238E27FC236}">
                <a16:creationId xmlns:a16="http://schemas.microsoft.com/office/drawing/2014/main" id="{76987DF7-8D62-B82E-4BD4-8ABA3A71C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1"/>
            <a:ext cx="8520598" cy="841796"/>
          </a:xfrm>
        </p:spPr>
        <p:txBody>
          <a:bodyPr anchor="ctr" anchorCtr="1"/>
          <a:lstStyle>
            <a:lvl1pPr algn="ctr">
              <a:defRPr sz="3600"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15;p3">
            <a:extLst>
              <a:ext uri="{FF2B5EF4-FFF2-40B4-BE49-F238E27FC236}">
                <a16:creationId xmlns:a16="http://schemas.microsoft.com/office/drawing/2014/main" id="{5130882F-5088-DA48-C14C-C6EBCCE0B5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32BB2C-EF4F-4CD4-8275-ACFC472AF743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75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>
            <a:extLst>
              <a:ext uri="{FF2B5EF4-FFF2-40B4-BE49-F238E27FC236}">
                <a16:creationId xmlns:a16="http://schemas.microsoft.com/office/drawing/2014/main" id="{35410C2A-A5DE-83C0-CBBD-14812FD9066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F99DDC82-7814-4AFF-FBF5-53DDFBF16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19;p4">
            <a:extLst>
              <a:ext uri="{FF2B5EF4-FFF2-40B4-BE49-F238E27FC236}">
                <a16:creationId xmlns:a16="http://schemas.microsoft.com/office/drawing/2014/main" id="{86C6651E-5FB6-262D-40D2-1056EF13FE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B673D5-992A-4059-9669-C0A205653368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7449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>
            <a:extLst>
              <a:ext uri="{FF2B5EF4-FFF2-40B4-BE49-F238E27FC236}">
                <a16:creationId xmlns:a16="http://schemas.microsoft.com/office/drawing/2014/main" id="{8AD9BC5E-4513-C1B8-A985-39F5D6D5B07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22;p5">
            <a:extLst>
              <a:ext uri="{FF2B5EF4-FFF2-40B4-BE49-F238E27FC236}">
                <a16:creationId xmlns:a16="http://schemas.microsoft.com/office/drawing/2014/main" id="{67CB15E5-AE3D-2F45-881F-4BD008424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3"/>
            <a:ext cx="3999896" cy="3416399"/>
          </a:xfrm>
        </p:spPr>
        <p:txBody>
          <a:bodyPr/>
          <a:lstStyle>
            <a:lvl1pPr indent="-317497">
              <a:buSzPts val="1400"/>
              <a:defRPr sz="1400"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23;p5">
            <a:extLst>
              <a:ext uri="{FF2B5EF4-FFF2-40B4-BE49-F238E27FC236}">
                <a16:creationId xmlns:a16="http://schemas.microsoft.com/office/drawing/2014/main" id="{847C3ED2-2780-62A1-B7C0-4170A560E74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2" y="1152473"/>
            <a:ext cx="3999896" cy="3416399"/>
          </a:xfrm>
        </p:spPr>
        <p:txBody>
          <a:bodyPr/>
          <a:lstStyle>
            <a:lvl1pPr indent="-317497">
              <a:buSzPts val="1400"/>
              <a:defRPr sz="1400"/>
            </a:lvl1pPr>
          </a:lstStyle>
          <a:p>
            <a:pPr lvl="0"/>
            <a:endParaRPr lang="zh-TW" altLang="en-US"/>
          </a:p>
        </p:txBody>
      </p:sp>
      <p:sp>
        <p:nvSpPr>
          <p:cNvPr id="5" name="Google Shape;24;p5">
            <a:extLst>
              <a:ext uri="{FF2B5EF4-FFF2-40B4-BE49-F238E27FC236}">
                <a16:creationId xmlns:a16="http://schemas.microsoft.com/office/drawing/2014/main" id="{773D05C5-176A-D784-C612-BB37A2460D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B1C86D-64D1-43D1-AE6F-02D97298C373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68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>
            <a:extLst>
              <a:ext uri="{FF2B5EF4-FFF2-40B4-BE49-F238E27FC236}">
                <a16:creationId xmlns:a16="http://schemas.microsoft.com/office/drawing/2014/main" id="{6DA1AFBC-E264-5985-FC4A-B88061BF100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27;p6">
            <a:extLst>
              <a:ext uri="{FF2B5EF4-FFF2-40B4-BE49-F238E27FC236}">
                <a16:creationId xmlns:a16="http://schemas.microsoft.com/office/drawing/2014/main" id="{C5979307-2A71-1D3A-6FB3-7F41DCDFBA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347E64-6B6C-4032-9C38-964673104D93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2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>
            <a:extLst>
              <a:ext uri="{FF2B5EF4-FFF2-40B4-BE49-F238E27FC236}">
                <a16:creationId xmlns:a16="http://schemas.microsoft.com/office/drawing/2014/main" id="{E70294EC-9A32-DB21-B79D-A011A2E97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55598"/>
            <a:ext cx="2808003" cy="755696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30;p7">
            <a:extLst>
              <a:ext uri="{FF2B5EF4-FFF2-40B4-BE49-F238E27FC236}">
                <a16:creationId xmlns:a16="http://schemas.microsoft.com/office/drawing/2014/main" id="{8801D724-EA8B-DB85-A1DD-F088ADF21D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389604"/>
            <a:ext cx="2808003" cy="3179396"/>
          </a:xfrm>
        </p:spPr>
        <p:txBody>
          <a:bodyPr/>
          <a:lstStyle>
            <a:lvl1pPr indent="-304796">
              <a:buSzPts val="1200"/>
              <a:defRPr sz="1200"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31;p7">
            <a:extLst>
              <a:ext uri="{FF2B5EF4-FFF2-40B4-BE49-F238E27FC236}">
                <a16:creationId xmlns:a16="http://schemas.microsoft.com/office/drawing/2014/main" id="{0B59A859-F031-6AB3-2DBA-62DFBEBEA3B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1790B8-212B-4C68-A6AC-E9A4F1EE3112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46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D74F93FE-13A1-B9A8-A6C4-3FBE6686C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46" y="450149"/>
            <a:ext cx="6367799" cy="4090797"/>
          </a:xfrm>
        </p:spPr>
        <p:txBody>
          <a:bodyPr anchor="ctr"/>
          <a:lstStyle>
            <a:lvl1pPr>
              <a:defRPr sz="4800"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9F708E7C-3D34-2194-BD04-BDA558AED2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8B99F9-F730-43C8-96B0-D92AFF0826CB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95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>
            <a:extLst>
              <a:ext uri="{FF2B5EF4-FFF2-40B4-BE49-F238E27FC236}">
                <a16:creationId xmlns:a16="http://schemas.microsoft.com/office/drawing/2014/main" id="{A93F9B04-D5D1-B4FD-7888-EFBA9394ABC6}"/>
              </a:ext>
            </a:extLst>
          </p:cNvPr>
          <p:cNvSpPr/>
          <p:nvPr/>
        </p:nvSpPr>
        <p:spPr>
          <a:xfrm>
            <a:off x="4572000" y="-128"/>
            <a:ext cx="4572000" cy="5143499"/>
          </a:xfrm>
          <a:prstGeom prst="rect">
            <a:avLst/>
          </a:prstGeom>
          <a:solidFill>
            <a:srgbClr val="EEEEEE"/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zh-TW" altLang="en-U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37;p9">
            <a:extLst>
              <a:ext uri="{FF2B5EF4-FFF2-40B4-BE49-F238E27FC236}">
                <a16:creationId xmlns:a16="http://schemas.microsoft.com/office/drawing/2014/main" id="{889C9D81-709C-1BCF-A83C-A6CEEB3B2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496" y="1233178"/>
            <a:ext cx="4045195" cy="1482297"/>
          </a:xfrm>
        </p:spPr>
        <p:txBody>
          <a:bodyPr anchor="b" anchorCtr="1"/>
          <a:lstStyle>
            <a:lvl1pPr algn="ctr">
              <a:defRPr sz="4200"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38;p9">
            <a:extLst>
              <a:ext uri="{FF2B5EF4-FFF2-40B4-BE49-F238E27FC236}">
                <a16:creationId xmlns:a16="http://schemas.microsoft.com/office/drawing/2014/main" id="{457873A2-F9BF-3C23-F4C8-49781C399A0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65496" y="2803074"/>
            <a:ext cx="4045195" cy="1235098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100"/>
            </a:lvl1pPr>
          </a:lstStyle>
          <a:p>
            <a:pPr lvl="0"/>
            <a:endParaRPr lang="zh-TW" altLang="en-US"/>
          </a:p>
        </p:txBody>
      </p:sp>
      <p:sp>
        <p:nvSpPr>
          <p:cNvPr id="5" name="Google Shape;39;p9">
            <a:extLst>
              <a:ext uri="{FF2B5EF4-FFF2-40B4-BE49-F238E27FC236}">
                <a16:creationId xmlns:a16="http://schemas.microsoft.com/office/drawing/2014/main" id="{81EEA5D7-9CE9-7242-1CBA-1A88C238AE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39497" y="724076"/>
            <a:ext cx="3836996" cy="3695099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6" name="Google Shape;40;p9">
            <a:extLst>
              <a:ext uri="{FF2B5EF4-FFF2-40B4-BE49-F238E27FC236}">
                <a16:creationId xmlns:a16="http://schemas.microsoft.com/office/drawing/2014/main" id="{136B625E-5152-D9ED-78ED-D90E0A4F55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9669EF-0C07-4A9A-BDF0-072BD27179F7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86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>
            <a:extLst>
              <a:ext uri="{FF2B5EF4-FFF2-40B4-BE49-F238E27FC236}">
                <a16:creationId xmlns:a16="http://schemas.microsoft.com/office/drawing/2014/main" id="{BD23A7BF-6A6A-137F-586A-F6403F2A9E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4230572"/>
            <a:ext cx="5998802" cy="605104"/>
          </a:xfrm>
        </p:spPr>
        <p:txBody>
          <a:bodyPr anchor="ctr"/>
          <a:lstStyle>
            <a:lvl1pPr indent="-228600">
              <a:lnSpc>
                <a:spcPct val="100000"/>
              </a:lnSpc>
              <a:buNone/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3" name="Google Shape;43;p10">
            <a:extLst>
              <a:ext uri="{FF2B5EF4-FFF2-40B4-BE49-F238E27FC236}">
                <a16:creationId xmlns:a16="http://schemas.microsoft.com/office/drawing/2014/main" id="{CFB1E0C7-6DD2-4A8C-62B2-95606C14B1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5A392F-6A15-4AA7-8693-27AA65A1813F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04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>
            <a:extLst>
              <a:ext uri="{FF2B5EF4-FFF2-40B4-BE49-F238E27FC236}">
                <a16:creationId xmlns:a16="http://schemas.microsoft.com/office/drawing/2014/main" id="{E00B98D9-3AE4-B9AE-FF2B-2FA34B4AF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06122"/>
            <a:ext cx="8520598" cy="1963500"/>
          </a:xfrm>
        </p:spPr>
        <p:txBody>
          <a:bodyPr anchor="b" anchorCtr="1"/>
          <a:lstStyle>
            <a:lvl1pPr algn="ctr">
              <a:defRPr lang="en-US" sz="12000"/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" name="Google Shape;46;p11">
            <a:extLst>
              <a:ext uri="{FF2B5EF4-FFF2-40B4-BE49-F238E27FC236}">
                <a16:creationId xmlns:a16="http://schemas.microsoft.com/office/drawing/2014/main" id="{929FA798-E6FD-98F5-0DA0-26C60F189A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3152229"/>
            <a:ext cx="8520598" cy="130079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zh-TW" altLang="en-US"/>
          </a:p>
        </p:txBody>
      </p:sp>
      <p:sp>
        <p:nvSpPr>
          <p:cNvPr id="4" name="Google Shape;47;p11">
            <a:extLst>
              <a:ext uri="{FF2B5EF4-FFF2-40B4-BE49-F238E27FC236}">
                <a16:creationId xmlns:a16="http://schemas.microsoft.com/office/drawing/2014/main" id="{B98EF1BF-72FF-A0CC-9FEF-20339D5335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CEBB27-BAEA-4AC0-B42C-5D773C2A6F90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34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>
            <a:extLst>
              <a:ext uri="{FF2B5EF4-FFF2-40B4-BE49-F238E27FC236}">
                <a16:creationId xmlns:a16="http://schemas.microsoft.com/office/drawing/2014/main" id="{D9F60D94-E993-78E2-5F22-92D45BE721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3C1329-22DB-4516-8D7C-C7F9144D9A80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03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C3DFFF01-F749-1AC0-F297-385BD10FF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9"/>
            <a:ext cx="8520598" cy="5726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endParaRPr lang="zh-TW" altLang="en-US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B42ACD93-39A5-5ABD-EFC2-ACCA777A3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3"/>
            <a:ext cx="8520598" cy="341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60CEB2A8-7C4B-6A12-9647-2BF679AFB2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472455" y="4663220"/>
            <a:ext cx="548704" cy="3936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altLang="zh-TW" sz="1000" b="0" i="0" u="none" strike="noStrike" kern="0" cap="none" spc="0" baseline="0">
                <a:solidFill>
                  <a:srgbClr val="595959"/>
                </a:solidFill>
                <a:uFillTx/>
                <a:latin typeface="Arial"/>
                <a:ea typeface="Arial"/>
                <a:cs typeface="Arial"/>
              </a:defRPr>
            </a:lvl1pPr>
          </a:lstStyle>
          <a:p>
            <a:pPr lvl="0"/>
            <a:fld id="{D6AC9D91-BEDE-46F9-B79B-C0D1CFEE548B}" type="slidenum"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zh-TW" altLang="en-US" sz="2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457200" marR="0" lvl="0" indent="-342900" algn="l" defTabSz="91440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lang="zh-TW" altLang="en-US" sz="1800" b="0" i="0" u="none" strike="noStrike" kern="0" cap="none" spc="0" baseline="0">
          <a:solidFill>
            <a:srgbClr val="595959"/>
          </a:solidFill>
          <a:uFillTx/>
          <a:latin typeface="Arial"/>
          <a:ea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jp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7.png"/><Relationship Id="rId5" Type="http://schemas.openxmlformats.org/officeDocument/2006/relationships/image" Target="../media/image23.png"/><Relationship Id="rId10" Type="http://schemas.openxmlformats.org/officeDocument/2006/relationships/image" Target="../media/image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8.png"/><Relationship Id="rId5" Type="http://schemas.openxmlformats.org/officeDocument/2006/relationships/image" Target="../media/image29.png"/><Relationship Id="rId10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4;p13">
            <a:extLst>
              <a:ext uri="{FF2B5EF4-FFF2-40B4-BE49-F238E27FC236}">
                <a16:creationId xmlns:a16="http://schemas.microsoft.com/office/drawing/2014/main" id="{F27592CC-C4BB-F0E5-F189-BB08353C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392291"/>
              </p:ext>
            </p:extLst>
          </p:nvPr>
        </p:nvGraphicFramePr>
        <p:xfrm>
          <a:off x="359999" y="182550"/>
          <a:ext cx="8280045" cy="2895296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1445574">
                  <a:extLst>
                    <a:ext uri="{9D8B030D-6E8A-4147-A177-3AD203B41FA5}">
                      <a16:colId xmlns:a16="http://schemas.microsoft.com/office/drawing/2014/main" val="2976829875"/>
                    </a:ext>
                  </a:extLst>
                </a:gridCol>
                <a:gridCol w="6834471">
                  <a:extLst>
                    <a:ext uri="{9D8B030D-6E8A-4147-A177-3AD203B41FA5}">
                      <a16:colId xmlns:a16="http://schemas.microsoft.com/office/drawing/2014/main" val="1679733410"/>
                    </a:ext>
                  </a:extLst>
                </a:gridCol>
              </a:tblGrid>
              <a:tr h="2306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素材名稱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貓咪造咖：</a:t>
                      </a:r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260624_</a:t>
                      </a:r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</a:t>
                      </a:r>
                      <a:r>
                        <a:rPr lang="zh-TW" altLang="en-US" sz="11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廣宣</a:t>
                      </a:r>
                      <a:r>
                        <a:rPr lang="en-US" altLang="zh-TW" sz="11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</a:t>
                      </a:r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v1.20</a:t>
                      </a:r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版更預告</a:t>
                      </a:r>
                      <a:endParaRPr lang="zh-TW" altLang="en-US"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589641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檔案格式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影片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Gif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廣宣　　</a:t>
                      </a:r>
                      <a:r>
                        <a:rPr lang="zh-TW" altLang="en-US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☑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靜態廣宣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商店頁圖片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H5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廣宣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互動廣宣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其他：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401766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媒體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 dirty="0" err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Tiktok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　　</a:t>
                      </a:r>
                      <a:r>
                        <a:rPr lang="zh-TW" altLang="en-US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☑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 + IG</a:t>
                      </a:r>
                      <a:endParaRPr lang="zh-TW" altLang="en-US"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987482"/>
                  </a:ext>
                </a:extLst>
              </a:tr>
              <a:tr h="2306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總支數</a:t>
                      </a:r>
                      <a:r>
                        <a:rPr lang="zh-TW" altLang="en-US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alt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特殊規格說明</a:t>
                      </a:r>
                      <a:r>
                        <a:rPr lang="en-US" alt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  <a:endParaRPr lang="zh-TW" altLang="en-US" sz="7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  <a:endParaRPr lang="zh-TW" altLang="en-US" sz="1000" b="1" dirty="0">
                        <a:solidFill>
                          <a:srgbClr val="B7B7B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0004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378843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最大秒數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  <a:endParaRPr lang="zh-TW" altLang="en-US"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334347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素材類型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☑</a:t>
                      </a:r>
                      <a:r>
                        <a:rPr lang="zh-TW" altLang="en-US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全新　　</a:t>
                      </a:r>
                      <a:r>
                        <a:rPr lang="zh-TW" altLang="en-US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部分沿用舊素材　　</a:t>
                      </a:r>
                      <a:r>
                        <a:rPr lang="zh-TW" altLang="en-US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zh-TW" altLang="en-US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舊素材微調　　</a:t>
                      </a:r>
                      <a:r>
                        <a:rPr lang="zh-TW" altLang="en-US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relanguage</a:t>
                      </a:r>
                      <a:r>
                        <a:rPr lang="zh-TW" altLang="en-US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　　</a:t>
                      </a:r>
                      <a:r>
                        <a:rPr lang="en-US" altLang="zh-TW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  <a:r>
                        <a:rPr lang="en-US" altLang="zh-TW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resize</a:t>
                      </a:r>
                      <a:endParaRPr lang="en-US" sz="10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506466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影像特殊需求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  <a:endParaRPr lang="zh-TW" altLang="en-US"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728947"/>
                  </a:ext>
                </a:extLst>
              </a:tr>
              <a:tr h="2406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音效特殊需求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  <a:endParaRPr lang="zh-TW" altLang="en-US"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278584"/>
                  </a:ext>
                </a:extLst>
              </a:tr>
            </a:tbl>
          </a:graphicData>
        </a:graphic>
      </p:graphicFrame>
      <p:graphicFrame>
        <p:nvGraphicFramePr>
          <p:cNvPr id="3" name="Google Shape;55;p13">
            <a:extLst>
              <a:ext uri="{FF2B5EF4-FFF2-40B4-BE49-F238E27FC236}">
                <a16:creationId xmlns:a16="http://schemas.microsoft.com/office/drawing/2014/main" id="{69A314E3-3537-C193-735D-C1D8C6A28163}"/>
              </a:ext>
            </a:extLst>
          </p:cNvPr>
          <p:cNvGraphicFramePr>
            <a:graphicFrameLocks noGrp="1"/>
          </p:cNvGraphicFramePr>
          <p:nvPr/>
        </p:nvGraphicFramePr>
        <p:xfrm>
          <a:off x="-405700" y="182550"/>
          <a:ext cx="765700" cy="365722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145767013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624528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☑</a:t>
                      </a:r>
                    </a:p>
                  </a:txBody>
                  <a:tcPr marL="91421" marR="91421" marT="91421" marB="91421">
                    <a:lnL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☐</a:t>
                      </a:r>
                    </a:p>
                  </a:txBody>
                  <a:tcPr marL="91421" marR="91421" marT="91421" marB="91421">
                    <a:lnL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74231"/>
                  </a:ext>
                </a:extLst>
              </a:tr>
            </a:tbl>
          </a:graphicData>
        </a:graphic>
      </p:graphicFrame>
      <p:graphicFrame>
        <p:nvGraphicFramePr>
          <p:cNvPr id="4" name="Google Shape;56;p13">
            <a:extLst>
              <a:ext uri="{FF2B5EF4-FFF2-40B4-BE49-F238E27FC236}">
                <a16:creationId xmlns:a16="http://schemas.microsoft.com/office/drawing/2014/main" id="{0BD7B769-1E82-FE47-55EB-777C6FF55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48803"/>
              </p:ext>
            </p:extLst>
          </p:nvPr>
        </p:nvGraphicFramePr>
        <p:xfrm>
          <a:off x="359990" y="3229203"/>
          <a:ext cx="8280062" cy="1752410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1445574">
                  <a:extLst>
                    <a:ext uri="{9D8B030D-6E8A-4147-A177-3AD203B41FA5}">
                      <a16:colId xmlns:a16="http://schemas.microsoft.com/office/drawing/2014/main" val="4253995920"/>
                    </a:ext>
                  </a:extLst>
                </a:gridCol>
                <a:gridCol w="6834488">
                  <a:extLst>
                    <a:ext uri="{9D8B030D-6E8A-4147-A177-3AD203B41FA5}">
                      <a16:colId xmlns:a16="http://schemas.microsoft.com/office/drawing/2014/main" val="1038182043"/>
                    </a:ext>
                  </a:extLst>
                </a:gridCol>
              </a:tblGrid>
              <a:tr h="239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畫面風格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可愛療癒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54247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配樂風格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  <a:endParaRPr lang="zh-TW" altLang="en-US"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08629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廣告</a:t>
                      </a:r>
                      <a:r>
                        <a:rPr lang="en-US" alt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</a:t>
                      </a:r>
                      <a:endParaRPr lang="en-US"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貓咖玩家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297364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廣告目的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以新功能的推出增加玩家體驗，吸引老玩家持續遊玩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3338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廣告鉤子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新功能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4006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3946284418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b="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種尺寸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b="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A187-F7BD-9A43-88CB-343F188F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84;p18">
            <a:extLst>
              <a:ext uri="{FF2B5EF4-FFF2-40B4-BE49-F238E27FC236}">
                <a16:creationId xmlns:a16="http://schemas.microsoft.com/office/drawing/2014/main" id="{5BCE4115-A064-4500-BEFA-77B52EDF62BD}"/>
              </a:ext>
            </a:extLst>
          </p:cNvPr>
          <p:cNvGraphicFramePr>
            <a:graphicFrameLocks noGrp="1"/>
          </p:cNvGraphicFramePr>
          <p:nvPr/>
        </p:nvGraphicFramePr>
        <p:xfrm>
          <a:off x="-9" y="-9"/>
          <a:ext cx="3614777" cy="514349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614777">
                  <a:extLst>
                    <a:ext uri="{9D8B030D-6E8A-4147-A177-3AD203B41FA5}">
                      <a16:colId xmlns:a16="http://schemas.microsoft.com/office/drawing/2014/main" val="1420155618"/>
                    </a:ext>
                  </a:extLst>
                </a:gridCol>
              </a:tblGrid>
              <a:tr h="51434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009797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A5484672-7FE1-B1E7-B625-1BB1B698C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" y="437779"/>
            <a:ext cx="3597901" cy="4447309"/>
          </a:xfrm>
          <a:prstGeom prst="rect">
            <a:avLst/>
          </a:prstGeom>
        </p:spPr>
      </p:pic>
      <p:graphicFrame>
        <p:nvGraphicFramePr>
          <p:cNvPr id="2" name="Google Shape;83;p18">
            <a:extLst>
              <a:ext uri="{FF2B5EF4-FFF2-40B4-BE49-F238E27FC236}">
                <a16:creationId xmlns:a16="http://schemas.microsoft.com/office/drawing/2014/main" id="{BFEEFEA1-3304-5B26-815E-BDC48510E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83937"/>
              </p:ext>
            </p:extLst>
          </p:nvPr>
        </p:nvGraphicFramePr>
        <p:xfrm>
          <a:off x="3614778" y="0"/>
          <a:ext cx="5529219" cy="2297787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850821">
                  <a:extLst>
                    <a:ext uri="{9D8B030D-6E8A-4147-A177-3AD203B41FA5}">
                      <a16:colId xmlns:a16="http://schemas.microsoft.com/office/drawing/2014/main" val="2773526117"/>
                    </a:ext>
                  </a:extLst>
                </a:gridCol>
                <a:gridCol w="4678398">
                  <a:extLst>
                    <a:ext uri="{9D8B030D-6E8A-4147-A177-3AD203B41FA5}">
                      <a16:colId xmlns:a16="http://schemas.microsoft.com/office/drawing/2014/main" val="3673774032"/>
                    </a:ext>
                  </a:extLst>
                </a:gridCol>
              </a:tblGrid>
              <a:tr h="2920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排版物件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 ／ 資料庫連結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8050"/>
                  </a:ext>
                </a:extLst>
              </a:tr>
              <a:tr h="3982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底圖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白天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露營、野餐的感覺，草地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如右圖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行動餐車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51948"/>
                  </a:ext>
                </a:extLst>
              </a:tr>
              <a:tr h="265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標題文字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喵餐車登場</a:t>
                      </a:r>
                      <a:r>
                        <a:rPr lang="zh-TW" altLang="zh-TW" sz="800" dirty="0"/>
                        <a:t>💨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」，旁邊加上餐車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icon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992030"/>
                  </a:ext>
                </a:extLst>
              </a:tr>
              <a:tr h="5840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餐車排版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車廂放喵餐車合成物品的畫面，</a:t>
                      </a: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車身外有顧客在排隊領取餐點</a:t>
                      </a:r>
                      <a:endParaRPr lang="en-US" altLang="zh-TW" sz="800" b="1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altLang="zh-TW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顧客頭上冒出</a:t>
                      </a:r>
                      <a:r>
                        <a:rPr lang="zh-TW" altLang="zh-TW" sz="800" b="1" dirty="0"/>
                        <a:t>對話框+餐點</a:t>
                      </a:r>
                      <a:r>
                        <a:rPr lang="zh-TW" altLang="en-US" sz="800" b="1" dirty="0"/>
                        <a:t>，示意他們正在等餐</a:t>
                      </a:r>
                      <a:r>
                        <a:rPr lang="en-US" altLang="zh-TW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餐點為遊戲實際出現的</a:t>
                      </a:r>
                      <a:r>
                        <a:rPr lang="en-US" altLang="zh-TW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icon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車廂空位可擺放生產器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29232"/>
                  </a:ext>
                </a:extLst>
              </a:tr>
              <a:tr h="5300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貓咪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劇情對話貓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\Customer_0001_skin00_smile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劇情對話貓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\Customer_0040_skin00_confidence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69965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7E993D0-9819-39CA-FBA3-06610E1391F6}"/>
              </a:ext>
            </a:extLst>
          </p:cNvPr>
          <p:cNvSpPr/>
          <p:nvPr/>
        </p:nvSpPr>
        <p:spPr>
          <a:xfrm>
            <a:off x="8145" y="396469"/>
            <a:ext cx="1803847" cy="312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v1.20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改版：新活動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042B7-DFDC-C3DE-219F-8B608ECEF1E4}"/>
              </a:ext>
            </a:extLst>
          </p:cNvPr>
          <p:cNvSpPr/>
          <p:nvPr/>
        </p:nvSpPr>
        <p:spPr>
          <a:xfrm>
            <a:off x="511191" y="1318181"/>
            <a:ext cx="2934891" cy="360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喵餐車登場</a:t>
            </a:r>
            <a:r>
              <a:rPr lang="zh-TW" altLang="zh-TW" dirty="0"/>
              <a:t>💨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客製化咖啡行動餐車｜餐車改裝｜市集擺攤– 向東車庫">
            <a:extLst>
              <a:ext uri="{FF2B5EF4-FFF2-40B4-BE49-F238E27FC236}">
                <a16:creationId xmlns:a16="http://schemas.microsoft.com/office/drawing/2014/main" id="{AD1DF276-DB60-F129-1595-8E82D7508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459" r="15062"/>
          <a:stretch>
            <a:fillRect/>
          </a:stretch>
        </p:blipFill>
        <p:spPr>
          <a:xfrm>
            <a:off x="-1923685" y="1913860"/>
            <a:ext cx="5667506" cy="318531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77C3788-4A2A-9DBA-23B0-7AC11C97F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85" y="1154790"/>
            <a:ext cx="544986" cy="54498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A7708D1-D061-E13E-5006-A22C3EC8F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777" y="2287116"/>
            <a:ext cx="1220894" cy="158640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37BB2C5-B241-59F8-9ED0-07798E1B02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658" r="41072"/>
          <a:stretch>
            <a:fillRect/>
          </a:stretch>
        </p:blipFill>
        <p:spPr>
          <a:xfrm>
            <a:off x="1147085" y="3236655"/>
            <a:ext cx="492172" cy="473908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6B4C9AE-903E-7E9D-222C-C4782D3E9E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307"/>
          <a:stretch>
            <a:fillRect/>
          </a:stretch>
        </p:blipFill>
        <p:spPr>
          <a:xfrm>
            <a:off x="1639257" y="3293211"/>
            <a:ext cx="588594" cy="47623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DA54448B-E817-223A-DBAF-608BD70F9A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6730"/>
          <a:stretch>
            <a:fillRect/>
          </a:stretch>
        </p:blipFill>
        <p:spPr>
          <a:xfrm>
            <a:off x="703369" y="3230413"/>
            <a:ext cx="492172" cy="473908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5E793F7D-766F-AD7A-5502-6E08419434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104" y="3747318"/>
            <a:ext cx="2597278" cy="1257149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226BFA2D-00D4-6AE0-4D62-6A2864897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191" y="2457514"/>
            <a:ext cx="2060501" cy="2546953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D08B44A3-478B-DD99-B167-50DE3934B9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45" y="4625947"/>
            <a:ext cx="3633491" cy="235108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662CBCE1-18AF-B0B0-994D-5E34582435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777" y="4107322"/>
            <a:ext cx="1418021" cy="810297"/>
          </a:xfrm>
          <a:prstGeom prst="rect">
            <a:avLst/>
          </a:prstGeom>
        </p:spPr>
      </p:pic>
      <p:sp>
        <p:nvSpPr>
          <p:cNvPr id="10" name="想法泡泡: 雲朵 9">
            <a:extLst>
              <a:ext uri="{FF2B5EF4-FFF2-40B4-BE49-F238E27FC236}">
                <a16:creationId xmlns:a16="http://schemas.microsoft.com/office/drawing/2014/main" id="{EA90DF54-639F-AAD3-40DB-BC61AD84E1A7}"/>
              </a:ext>
            </a:extLst>
          </p:cNvPr>
          <p:cNvSpPr/>
          <p:nvPr/>
        </p:nvSpPr>
        <p:spPr>
          <a:xfrm>
            <a:off x="1673045" y="3690793"/>
            <a:ext cx="941310" cy="619842"/>
          </a:xfrm>
          <a:prstGeom prst="cloudCallout">
            <a:avLst>
              <a:gd name="adj1" fmla="val -39659"/>
              <a:gd name="adj2" fmla="val 4877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4C20AEF-4323-7FA5-21DD-91AABB91A5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92" y="3912713"/>
            <a:ext cx="236206" cy="236206"/>
          </a:xfrm>
          <a:prstGeom prst="rect">
            <a:avLst/>
          </a:prstGeom>
        </p:spPr>
      </p:pic>
      <p:grpSp>
        <p:nvGrpSpPr>
          <p:cNvPr id="32" name="群組 31">
            <a:extLst>
              <a:ext uri="{FF2B5EF4-FFF2-40B4-BE49-F238E27FC236}">
                <a16:creationId xmlns:a16="http://schemas.microsoft.com/office/drawing/2014/main" id="{FD614B00-7D98-6497-DF88-EB5526155F28}"/>
              </a:ext>
            </a:extLst>
          </p:cNvPr>
          <p:cNvGrpSpPr/>
          <p:nvPr/>
        </p:nvGrpSpPr>
        <p:grpSpPr>
          <a:xfrm>
            <a:off x="-90415" y="3354887"/>
            <a:ext cx="812017" cy="423837"/>
            <a:chOff x="-242018" y="3034408"/>
            <a:chExt cx="941310" cy="619842"/>
          </a:xfrm>
        </p:grpSpPr>
        <p:sp>
          <p:nvSpPr>
            <p:cNvPr id="5" name="想法泡泡: 雲朵 4">
              <a:extLst>
                <a:ext uri="{FF2B5EF4-FFF2-40B4-BE49-F238E27FC236}">
                  <a16:creationId xmlns:a16="http://schemas.microsoft.com/office/drawing/2014/main" id="{4195CB90-47E0-B391-A287-1FFC090C8321}"/>
                </a:ext>
              </a:extLst>
            </p:cNvPr>
            <p:cNvSpPr/>
            <p:nvPr/>
          </p:nvSpPr>
          <p:spPr>
            <a:xfrm>
              <a:off x="-242018" y="3034408"/>
              <a:ext cx="941310" cy="619842"/>
            </a:xfrm>
            <a:prstGeom prst="cloudCallout">
              <a:avLst>
                <a:gd name="adj1" fmla="val 8535"/>
                <a:gd name="adj2" fmla="val 5678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59B8F606-8390-D0E7-392C-34AF5AD8C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999" y="3258242"/>
              <a:ext cx="236206" cy="236206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9A882A4-1410-E023-F7BA-0D65B4C4E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653" y="3250152"/>
              <a:ext cx="266085" cy="266085"/>
            </a:xfrm>
            <a:prstGeom prst="rect">
              <a:avLst/>
            </a:prstGeom>
          </p:spPr>
        </p:pic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ADE94A05-95D4-8CC3-24E0-95E312D59E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317" y="3862464"/>
            <a:ext cx="236206" cy="236206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10EE97C0-F85B-EC88-D053-2F942484B5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55" y="3590774"/>
            <a:ext cx="1140257" cy="132684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9B2D68D7-BC7F-86CC-E3DC-41119F6D26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96" y="3716805"/>
            <a:ext cx="1118516" cy="130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1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956A3-7E50-9CFA-2E34-32F9CFB1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84;p18">
            <a:extLst>
              <a:ext uri="{FF2B5EF4-FFF2-40B4-BE49-F238E27FC236}">
                <a16:creationId xmlns:a16="http://schemas.microsoft.com/office/drawing/2014/main" id="{7F390F77-9685-B322-3CB8-CB195A13F2F0}"/>
              </a:ext>
            </a:extLst>
          </p:cNvPr>
          <p:cNvGraphicFramePr>
            <a:graphicFrameLocks noGrp="1"/>
          </p:cNvGraphicFramePr>
          <p:nvPr/>
        </p:nvGraphicFramePr>
        <p:xfrm>
          <a:off x="-9" y="-9"/>
          <a:ext cx="3614777" cy="514349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614777">
                  <a:extLst>
                    <a:ext uri="{9D8B030D-6E8A-4147-A177-3AD203B41FA5}">
                      <a16:colId xmlns:a16="http://schemas.microsoft.com/office/drawing/2014/main" val="1420155618"/>
                    </a:ext>
                  </a:extLst>
                </a:gridCol>
              </a:tblGrid>
              <a:tr h="51434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00979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5260FA5B-8D1C-A165-C8B3-3F2AA19C0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514"/>
            <a:ext cx="3614777" cy="45184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15BE804-D903-2513-A01E-B3AEAF67EF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78" b="20338"/>
          <a:stretch>
            <a:fillRect/>
          </a:stretch>
        </p:blipFill>
        <p:spPr>
          <a:xfrm rot="21304222">
            <a:off x="463240" y="1058054"/>
            <a:ext cx="2741662" cy="3678246"/>
          </a:xfrm>
          <a:prstGeom prst="rect">
            <a:avLst/>
          </a:prstGeom>
        </p:spPr>
      </p:pic>
      <p:graphicFrame>
        <p:nvGraphicFramePr>
          <p:cNvPr id="2" name="Google Shape;83;p18">
            <a:extLst>
              <a:ext uri="{FF2B5EF4-FFF2-40B4-BE49-F238E27FC236}">
                <a16:creationId xmlns:a16="http://schemas.microsoft.com/office/drawing/2014/main" id="{1588C7D5-C002-CBB1-E0FE-1530C294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1763"/>
              </p:ext>
            </p:extLst>
          </p:nvPr>
        </p:nvGraphicFramePr>
        <p:xfrm>
          <a:off x="3614778" y="0"/>
          <a:ext cx="5529219" cy="308317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1005713">
                  <a:extLst>
                    <a:ext uri="{9D8B030D-6E8A-4147-A177-3AD203B41FA5}">
                      <a16:colId xmlns:a16="http://schemas.microsoft.com/office/drawing/2014/main" val="2773526117"/>
                    </a:ext>
                  </a:extLst>
                </a:gridCol>
                <a:gridCol w="4523506">
                  <a:extLst>
                    <a:ext uri="{9D8B030D-6E8A-4147-A177-3AD203B41FA5}">
                      <a16:colId xmlns:a16="http://schemas.microsoft.com/office/drawing/2014/main" val="3673774032"/>
                    </a:ext>
                  </a:extLst>
                </a:gridCol>
              </a:tblGrid>
              <a:tr h="3361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排版物件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 ／ 資料庫連結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8050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底圖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白天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露營、野餐的感覺，草地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如右圖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51948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標題文字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</a:t>
                      </a:r>
                      <a:r>
                        <a:rPr lang="zh-TW" altLang="zh-TW" sz="800" b="1" dirty="0">
                          <a:solidFill>
                            <a:schemeClr val="tx1"/>
                          </a:solidFill>
                        </a:rPr>
                        <a:t>成就階段全開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啦✨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」，旁邊可以加上閃亮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icon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或可愛元素點綴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992030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里程碑畫面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以遊戲內實際畫面為準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請協助顯示到有第八階段的成就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310501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氣泡對話框文字</a:t>
                      </a:r>
                      <a:endParaRPr lang="zh-TW" alt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請協助設計背景圖片風格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!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29232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E399CB8F-DEA3-34DD-D315-7D1892F41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599" y="4065849"/>
            <a:ext cx="1418021" cy="81029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092871E-1109-207B-3E4B-C493E0D777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041" y="4054964"/>
            <a:ext cx="1418021" cy="810297"/>
          </a:xfrm>
          <a:prstGeom prst="rect">
            <a:avLst/>
          </a:prstGeom>
        </p:spPr>
      </p:pic>
      <p:sp>
        <p:nvSpPr>
          <p:cNvPr id="33" name="語音泡泡: 橢圓形 32">
            <a:extLst>
              <a:ext uri="{FF2B5EF4-FFF2-40B4-BE49-F238E27FC236}">
                <a16:creationId xmlns:a16="http://schemas.microsoft.com/office/drawing/2014/main" id="{7E18AB2F-60CA-FA59-96FA-7CB6EDF5FF4C}"/>
              </a:ext>
            </a:extLst>
          </p:cNvPr>
          <p:cNvSpPr/>
          <p:nvPr/>
        </p:nvSpPr>
        <p:spPr>
          <a:xfrm>
            <a:off x="2455528" y="2601209"/>
            <a:ext cx="1041142" cy="631494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003E85-6526-5DEB-76BE-EF2DA194F585}"/>
              </a:ext>
            </a:extLst>
          </p:cNvPr>
          <p:cNvSpPr/>
          <p:nvPr/>
        </p:nvSpPr>
        <p:spPr>
          <a:xfrm>
            <a:off x="2361217" y="2721227"/>
            <a:ext cx="1196403" cy="411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完成可以獲得</a:t>
            </a:r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新設施喔</a:t>
            </a:r>
            <a:r>
              <a:rPr lang="en-US" altLang="zh-TW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B1199D-704B-D81B-2FBD-6A389DBA98B6}"/>
              </a:ext>
            </a:extLst>
          </p:cNvPr>
          <p:cNvSpPr/>
          <p:nvPr/>
        </p:nvSpPr>
        <p:spPr>
          <a:xfrm rot="412473">
            <a:off x="1610895" y="1028877"/>
            <a:ext cx="2157991" cy="360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b="1" dirty="0">
                <a:solidFill>
                  <a:schemeClr val="tx1"/>
                </a:solidFill>
              </a:rPr>
              <a:t>成就階段全開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啦✨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D934-CB46-F652-1538-9F8BEE571E77}"/>
              </a:ext>
            </a:extLst>
          </p:cNvPr>
          <p:cNvSpPr/>
          <p:nvPr/>
        </p:nvSpPr>
        <p:spPr>
          <a:xfrm rot="21320753">
            <a:off x="1289678" y="1377924"/>
            <a:ext cx="844639" cy="164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貓咪造咖 計畫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00A228C-671A-FFDB-1FFB-6F557E3AE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9987" y="0"/>
            <a:ext cx="1366795" cy="168947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D8E1CC-7B4B-8206-7E1D-BA5F970C7CE0}"/>
              </a:ext>
            </a:extLst>
          </p:cNvPr>
          <p:cNvSpPr/>
          <p:nvPr/>
        </p:nvSpPr>
        <p:spPr>
          <a:xfrm>
            <a:off x="206310" y="497638"/>
            <a:ext cx="1349599" cy="505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v1.20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改版：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成就新階段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D906416-2B48-3170-8B57-F43100B7E5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" y="4589916"/>
            <a:ext cx="3614777" cy="2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4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44EB-B07A-C1C2-8372-6B0FD19B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DE0CB798-2B30-EBDF-FBC2-58B728167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77" y="-9"/>
            <a:ext cx="3624350" cy="5143498"/>
          </a:xfrm>
          <a:prstGeom prst="rect">
            <a:avLst/>
          </a:prstGeom>
        </p:spPr>
      </p:pic>
      <p:graphicFrame>
        <p:nvGraphicFramePr>
          <p:cNvPr id="3" name="Google Shape;84;p18">
            <a:extLst>
              <a:ext uri="{FF2B5EF4-FFF2-40B4-BE49-F238E27FC236}">
                <a16:creationId xmlns:a16="http://schemas.microsoft.com/office/drawing/2014/main" id="{24FFC87D-61AA-50FE-FE92-729E9A38A7A6}"/>
              </a:ext>
            </a:extLst>
          </p:cNvPr>
          <p:cNvGraphicFramePr>
            <a:graphicFrameLocks noGrp="1"/>
          </p:cNvGraphicFramePr>
          <p:nvPr/>
        </p:nvGraphicFramePr>
        <p:xfrm>
          <a:off x="-9" y="-9"/>
          <a:ext cx="3614777" cy="514349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614777">
                  <a:extLst>
                    <a:ext uri="{9D8B030D-6E8A-4147-A177-3AD203B41FA5}">
                      <a16:colId xmlns:a16="http://schemas.microsoft.com/office/drawing/2014/main" val="1420155618"/>
                    </a:ext>
                  </a:extLst>
                </a:gridCol>
              </a:tblGrid>
              <a:tr h="51434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009797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476B5A9A-2245-7E00-83DE-8E4DA5CFD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16" b="15680"/>
          <a:stretch>
            <a:fillRect/>
          </a:stretch>
        </p:blipFill>
        <p:spPr>
          <a:xfrm>
            <a:off x="-28376" y="1035258"/>
            <a:ext cx="3633478" cy="2648099"/>
          </a:xfrm>
          <a:prstGeom prst="rect">
            <a:avLst/>
          </a:prstGeom>
        </p:spPr>
      </p:pic>
      <p:graphicFrame>
        <p:nvGraphicFramePr>
          <p:cNvPr id="2" name="Google Shape;83;p18">
            <a:extLst>
              <a:ext uri="{FF2B5EF4-FFF2-40B4-BE49-F238E27FC236}">
                <a16:creationId xmlns:a16="http://schemas.microsoft.com/office/drawing/2014/main" id="{9A31B693-52AD-7369-5321-0D9030D2E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150169"/>
              </p:ext>
            </p:extLst>
          </p:nvPr>
        </p:nvGraphicFramePr>
        <p:xfrm>
          <a:off x="3614778" y="0"/>
          <a:ext cx="5529222" cy="2485893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855106">
                  <a:extLst>
                    <a:ext uri="{9D8B030D-6E8A-4147-A177-3AD203B41FA5}">
                      <a16:colId xmlns:a16="http://schemas.microsoft.com/office/drawing/2014/main" val="2773526117"/>
                    </a:ext>
                  </a:extLst>
                </a:gridCol>
                <a:gridCol w="4674116">
                  <a:extLst>
                    <a:ext uri="{9D8B030D-6E8A-4147-A177-3AD203B41FA5}">
                      <a16:colId xmlns:a16="http://schemas.microsoft.com/office/drawing/2014/main" val="3673774032"/>
                    </a:ext>
                  </a:extLst>
                </a:gridCol>
              </a:tblGrid>
              <a:tr h="3361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排版物件</a:t>
                      </a:r>
                      <a:endParaRPr lang="zh-TW" altLang="en-US" sz="1000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 ／ 資料庫連結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8050"/>
                  </a:ext>
                </a:extLst>
              </a:tr>
              <a:tr h="2942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背景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星夜，伴隨彩雲橋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商品圖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，可參考左圖 周圍可以有仙鶴、星辰作點綴</a:t>
                      </a: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51948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書本右側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喵語秘盒的畫面，以實際喵語秘盒畫面風格與元素呈現</a:t>
                      </a: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下方新增對話框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  <a:b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</a:b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可以手動旋轉搖獎機、還有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combo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獎勵喔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!】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782820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書本左側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展示新貓咪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/>
                        <a:t>X:\grp.product.art.check\【</a:t>
                      </a:r>
                      <a:r>
                        <a:rPr lang="zh-TW" altLang="en-US" sz="800" dirty="0"/>
                        <a:t>貓咖</a:t>
                      </a:r>
                      <a:r>
                        <a:rPr lang="en-US" altLang="zh-TW" sz="800" dirty="0"/>
                        <a:t>】\</a:t>
                      </a:r>
                      <a:r>
                        <a:rPr lang="zh-TW" altLang="en-US" sz="800" dirty="0"/>
                        <a:t>員工皮膚總覽</a:t>
                      </a:r>
                      <a:r>
                        <a:rPr lang="en-US" altLang="zh-TW" sz="800" dirty="0"/>
                        <a:t>\</a:t>
                      </a:r>
                      <a:r>
                        <a:rPr lang="zh-TW" altLang="zh-TW" sz="800" dirty="0"/>
                        <a:t>co_76</a:t>
                      </a: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展示服裝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TW" sz="800" dirty="0"/>
                        <a:t>bo_223</a:t>
                      </a:r>
                      <a:r>
                        <a:rPr lang="zh-TW" altLang="en-US" sz="800" dirty="0"/>
                        <a:t>、</a:t>
                      </a:r>
                      <a:r>
                        <a:rPr lang="pl-PL" altLang="zh-TW" sz="800" dirty="0"/>
                        <a:t>ba_131</a:t>
                      </a:r>
                      <a:r>
                        <a:rPr lang="zh-TW" altLang="en-US" sz="800" dirty="0"/>
                        <a:t>、</a:t>
                      </a:r>
                      <a:r>
                        <a:rPr lang="pl-PL" altLang="zh-TW" sz="800" dirty="0"/>
                        <a:t>ot_80	</a:t>
                      </a:r>
                      <a:endParaRPr lang="en-US" altLang="zh-TW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TW" sz="800" dirty="0"/>
                        <a:t>he_206</a:t>
                      </a:r>
                      <a:r>
                        <a:rPr lang="zh-TW" altLang="en-US" sz="800" dirty="0"/>
                        <a:t>、</a:t>
                      </a:r>
                      <a:r>
                        <a:rPr lang="pl-PL" altLang="zh-TW" sz="800" dirty="0"/>
                        <a:t>bo_224</a:t>
                      </a:r>
                      <a:r>
                        <a:rPr lang="zh-TW" altLang="en-US" sz="800" dirty="0"/>
                        <a:t>、</a:t>
                      </a:r>
                      <a:r>
                        <a:rPr lang="pl-PL" altLang="zh-TW" sz="800" dirty="0"/>
                        <a:t>	ot_81</a:t>
                      </a:r>
                      <a:endParaRPr lang="en-US" altLang="zh-TW" sz="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以布偶展示或是其他更適合的貓咪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292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2E1E0EB-A3ED-92C9-9681-B4F93DB29DFB}"/>
              </a:ext>
            </a:extLst>
          </p:cNvPr>
          <p:cNvSpPr/>
          <p:nvPr/>
        </p:nvSpPr>
        <p:spPr>
          <a:xfrm>
            <a:off x="180838" y="507259"/>
            <a:ext cx="1340317" cy="395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v1.20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改版：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新活動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F5D73139-E6CC-E1A8-22B3-24294CE9D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18961">
            <a:off x="2014167" y="1496821"/>
            <a:ext cx="1550724" cy="1373740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E47BD3BB-BCD6-24B2-A1A3-25892E413B02}"/>
              </a:ext>
            </a:extLst>
          </p:cNvPr>
          <p:cNvSpPr/>
          <p:nvPr/>
        </p:nvSpPr>
        <p:spPr>
          <a:xfrm rot="21309600">
            <a:off x="2390017" y="1268094"/>
            <a:ext cx="683000" cy="108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喵與秘盒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B4A8511-F541-3CC1-6F59-4CA056872103}"/>
              </a:ext>
            </a:extLst>
          </p:cNvPr>
          <p:cNvSpPr/>
          <p:nvPr/>
        </p:nvSpPr>
        <p:spPr>
          <a:xfrm rot="20922247">
            <a:off x="172310" y="1532574"/>
            <a:ext cx="1432383" cy="1807282"/>
          </a:xfrm>
          <a:prstGeom prst="roundRect">
            <a:avLst/>
          </a:prstGeom>
          <a:solidFill>
            <a:srgbClr val="F5EEDC"/>
          </a:solidFill>
          <a:ln>
            <a:solidFill>
              <a:srgbClr val="F5EE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A0863B6C-86F3-3B65-0D0C-DD49DE1A16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079" y="4369541"/>
            <a:ext cx="1418021" cy="810297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3F2B7140-77DE-64D0-DB79-13740FD29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" y="4891268"/>
            <a:ext cx="3614777" cy="23389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CA1E0C3-C91B-D3E2-F845-D77E483FB2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 rot="20977218" flipH="1">
            <a:off x="433663" y="2642206"/>
            <a:ext cx="527055" cy="608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2B94168-EAF9-30B8-3AF3-10B9B194F7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 rot="20977218">
            <a:off x="1108931" y="2529377"/>
            <a:ext cx="432715" cy="60814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7D11941-611D-CA0D-948F-9737DC035A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1329" flipH="1">
            <a:off x="456425" y="1677854"/>
            <a:ext cx="721790" cy="87159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E17A67D-98CE-0AA1-048E-7A260E128F4B}"/>
              </a:ext>
            </a:extLst>
          </p:cNvPr>
          <p:cNvSpPr/>
          <p:nvPr/>
        </p:nvSpPr>
        <p:spPr>
          <a:xfrm rot="21031467">
            <a:off x="2166338" y="2991454"/>
            <a:ext cx="1506865" cy="3601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</a:rPr>
              <a:t>可以手動旋轉搖獎機</a:t>
            </a:r>
            <a:endParaRPr lang="en-US" altLang="zh-TW" sz="1100" dirty="0">
              <a:solidFill>
                <a:schemeClr val="tx1"/>
              </a:solidFill>
            </a:endParaRPr>
          </a:p>
          <a:p>
            <a:pPr algn="ctr"/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還有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combo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獎勵喔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1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134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310E-E81F-15BB-4C4F-C08B194D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14410352-EBAF-3879-76EB-3F2805089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77" y="-9"/>
            <a:ext cx="3624350" cy="5143498"/>
          </a:xfrm>
          <a:prstGeom prst="rect">
            <a:avLst/>
          </a:prstGeom>
        </p:spPr>
      </p:pic>
      <p:graphicFrame>
        <p:nvGraphicFramePr>
          <p:cNvPr id="3" name="Google Shape;84;p18">
            <a:extLst>
              <a:ext uri="{FF2B5EF4-FFF2-40B4-BE49-F238E27FC236}">
                <a16:creationId xmlns:a16="http://schemas.microsoft.com/office/drawing/2014/main" id="{F6D92DA4-1B96-8098-79DD-6FE40DBA5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6714"/>
              </p:ext>
            </p:extLst>
          </p:nvPr>
        </p:nvGraphicFramePr>
        <p:xfrm>
          <a:off x="-9" y="-9"/>
          <a:ext cx="3614777" cy="514349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614777">
                  <a:extLst>
                    <a:ext uri="{9D8B030D-6E8A-4147-A177-3AD203B41FA5}">
                      <a16:colId xmlns:a16="http://schemas.microsoft.com/office/drawing/2014/main" val="1420155618"/>
                    </a:ext>
                  </a:extLst>
                </a:gridCol>
              </a:tblGrid>
              <a:tr h="51434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009797"/>
                  </a:ext>
                </a:extLst>
              </a:tr>
            </a:tbl>
          </a:graphicData>
        </a:graphic>
      </p:graphicFrame>
      <p:graphicFrame>
        <p:nvGraphicFramePr>
          <p:cNvPr id="2" name="Google Shape;83;p18">
            <a:extLst>
              <a:ext uri="{FF2B5EF4-FFF2-40B4-BE49-F238E27FC236}">
                <a16:creationId xmlns:a16="http://schemas.microsoft.com/office/drawing/2014/main" id="{D1F5E48C-4B65-E3E1-7FFB-02B5FEFC4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974796"/>
              </p:ext>
            </p:extLst>
          </p:nvPr>
        </p:nvGraphicFramePr>
        <p:xfrm>
          <a:off x="3614778" y="0"/>
          <a:ext cx="5529222" cy="3050723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855106">
                  <a:extLst>
                    <a:ext uri="{9D8B030D-6E8A-4147-A177-3AD203B41FA5}">
                      <a16:colId xmlns:a16="http://schemas.microsoft.com/office/drawing/2014/main" val="2773526117"/>
                    </a:ext>
                  </a:extLst>
                </a:gridCol>
                <a:gridCol w="4674116">
                  <a:extLst>
                    <a:ext uri="{9D8B030D-6E8A-4147-A177-3AD203B41FA5}">
                      <a16:colId xmlns:a16="http://schemas.microsoft.com/office/drawing/2014/main" val="3673774032"/>
                    </a:ext>
                  </a:extLst>
                </a:gridCol>
              </a:tblGrid>
              <a:tr h="3361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排版物件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 ／ 資料庫連結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8050"/>
                  </a:ext>
                </a:extLst>
              </a:tr>
              <a:tr h="2942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背景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星夜，伴隨彩雲橋，可參考左圖 周圍可以有仙鶴、星辰作點綴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不要附圖的那兩個人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51948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元素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展示限定神秘顧客、限定魚</a:t>
                      </a:r>
                      <a:endParaRPr lang="en-US" altLang="zh-TW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魚</a:t>
                      </a:r>
                      <a:r>
                        <a:rPr lang="en-US" altLang="zh-TW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魚圖鑑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\Fish_0101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魚圖鑑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\Fish_0102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顧客</a:t>
                      </a:r>
                      <a:r>
                        <a:rPr lang="en-US" altLang="zh-TW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劇情對話貓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\Customer_0044_skin00_shy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劇情對話貓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\Customer_0045_skin00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29232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光圈 </a:t>
                      </a: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 </a:t>
                      </a: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泡泡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示意圖中，貓咪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 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服裝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/ 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魚種後面的白底可以改為光圈或泡泡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透明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類似下圖示意圖風格（有其他適合的元素風格亦可自由搭配）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888974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如果版面太空，可加入詩句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:</a:t>
                      </a:r>
                      <a:b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</a:b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「月影光如晝，銀霜茫茫；七夕會鵲橋，情意綿綿」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57557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6786E24-50EE-72C7-D503-1B5AEA435696}"/>
              </a:ext>
            </a:extLst>
          </p:cNvPr>
          <p:cNvSpPr/>
          <p:nvPr/>
        </p:nvSpPr>
        <p:spPr>
          <a:xfrm>
            <a:off x="180838" y="507259"/>
            <a:ext cx="1340317" cy="395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v1.20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改版：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七夕活動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6F11BBF5-CE39-884D-604B-E1CD3BCB4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279" y="3177717"/>
            <a:ext cx="1013426" cy="1013426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6C826B1E-E505-7512-D432-ADB5A19D6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969" y="3174401"/>
            <a:ext cx="966909" cy="1013426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206B8A9-4A4A-B03B-FE76-5689294BF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89" y="2451397"/>
            <a:ext cx="1242666" cy="1446009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2FC494CF-86F7-A936-7EAE-8CF23F7F58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1281" flipH="1">
            <a:off x="2250937" y="1135392"/>
            <a:ext cx="1142352" cy="132928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E3F0BC4-D5D5-F43F-1F90-7A57D35E726B}"/>
              </a:ext>
            </a:extLst>
          </p:cNvPr>
          <p:cNvSpPr/>
          <p:nvPr/>
        </p:nvSpPr>
        <p:spPr>
          <a:xfrm>
            <a:off x="2662006" y="3737473"/>
            <a:ext cx="874000" cy="150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限定魚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E030F75B-5CDC-4026-D536-EDF1EB6A0B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246" y="4031783"/>
            <a:ext cx="1017377" cy="553987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4FDC875-6456-C220-47F5-002FDE2027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02598" y="4191143"/>
            <a:ext cx="937768" cy="51063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045D480-FB81-3E20-955F-F579823FFBB8}"/>
              </a:ext>
            </a:extLst>
          </p:cNvPr>
          <p:cNvSpPr/>
          <p:nvPr/>
        </p:nvSpPr>
        <p:spPr>
          <a:xfrm>
            <a:off x="208964" y="1009190"/>
            <a:ext cx="891422" cy="144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神秘顧客回歸</a:t>
            </a:r>
            <a:endParaRPr lang="zh-TW" altLang="en-US" sz="9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6F7D818D-7052-E995-ADA0-0E0B8261CC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079" y="4369541"/>
            <a:ext cx="1418021" cy="810297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6B2A709A-9317-6165-76FA-BDB173E9B6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9" y="4891268"/>
            <a:ext cx="3614777" cy="23389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2C8FE42-3FF1-5092-C869-AD89407F6647}"/>
              </a:ext>
            </a:extLst>
          </p:cNvPr>
          <p:cNvSpPr txBox="1"/>
          <p:nvPr/>
        </p:nvSpPr>
        <p:spPr>
          <a:xfrm>
            <a:off x="109589" y="1277572"/>
            <a:ext cx="25524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月影光如晝，銀霜茫茫</a:t>
            </a:r>
            <a:endParaRPr lang="en-US" altLang="zh-TW" sz="105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zh-TW" sz="105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七夕會鵲橋，情意綿綿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31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BAC9-6F33-EDA6-9C91-CC96C3A6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84;p18">
            <a:extLst>
              <a:ext uri="{FF2B5EF4-FFF2-40B4-BE49-F238E27FC236}">
                <a16:creationId xmlns:a16="http://schemas.microsoft.com/office/drawing/2014/main" id="{C1E18749-11AF-AC46-5F27-F37BD6F510C3}"/>
              </a:ext>
            </a:extLst>
          </p:cNvPr>
          <p:cNvGraphicFramePr>
            <a:graphicFrameLocks noGrp="1"/>
          </p:cNvGraphicFramePr>
          <p:nvPr/>
        </p:nvGraphicFramePr>
        <p:xfrm>
          <a:off x="-9" y="-9"/>
          <a:ext cx="3614777" cy="5143499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3614777">
                  <a:extLst>
                    <a:ext uri="{9D8B030D-6E8A-4147-A177-3AD203B41FA5}">
                      <a16:colId xmlns:a16="http://schemas.microsoft.com/office/drawing/2014/main" val="1420155618"/>
                    </a:ext>
                  </a:extLst>
                </a:gridCol>
              </a:tblGrid>
              <a:tr h="51434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009797"/>
                  </a:ext>
                </a:extLst>
              </a:tr>
            </a:tbl>
          </a:graphicData>
        </a:graphic>
      </p:graphicFrame>
      <p:pic>
        <p:nvPicPr>
          <p:cNvPr id="41" name="圖片 40">
            <a:extLst>
              <a:ext uri="{FF2B5EF4-FFF2-40B4-BE49-F238E27FC236}">
                <a16:creationId xmlns:a16="http://schemas.microsoft.com/office/drawing/2014/main" id="{6D964331-7D96-E367-B6FF-0B130C4BB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" y="269647"/>
            <a:ext cx="3593145" cy="4441431"/>
          </a:xfrm>
          <a:prstGeom prst="rect">
            <a:avLst/>
          </a:prstGeom>
        </p:spPr>
      </p:pic>
      <p:graphicFrame>
        <p:nvGraphicFramePr>
          <p:cNvPr id="2" name="Google Shape;83;p18">
            <a:extLst>
              <a:ext uri="{FF2B5EF4-FFF2-40B4-BE49-F238E27FC236}">
                <a16:creationId xmlns:a16="http://schemas.microsoft.com/office/drawing/2014/main" id="{5FADA699-F85E-0A6A-A830-3F3D7FEB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83400"/>
              </p:ext>
            </p:extLst>
          </p:nvPr>
        </p:nvGraphicFramePr>
        <p:xfrm>
          <a:off x="3614778" y="0"/>
          <a:ext cx="5529219" cy="3387941"/>
        </p:xfrm>
        <a:graphic>
          <a:graphicData uri="http://schemas.openxmlformats.org/drawingml/2006/table">
            <a:tbl>
              <a:tblPr>
                <a:effectLst/>
                <a:tableStyleId>{D27BCB22-5DEB-4D4A-AEB1-C0894EA97893}</a:tableStyleId>
              </a:tblPr>
              <a:tblGrid>
                <a:gridCol w="850821">
                  <a:extLst>
                    <a:ext uri="{9D8B030D-6E8A-4147-A177-3AD203B41FA5}">
                      <a16:colId xmlns:a16="http://schemas.microsoft.com/office/drawing/2014/main" val="2773526117"/>
                    </a:ext>
                  </a:extLst>
                </a:gridCol>
                <a:gridCol w="4678398">
                  <a:extLst>
                    <a:ext uri="{9D8B030D-6E8A-4147-A177-3AD203B41FA5}">
                      <a16:colId xmlns:a16="http://schemas.microsoft.com/office/drawing/2014/main" val="3673774032"/>
                    </a:ext>
                  </a:extLst>
                </a:gridCol>
              </a:tblGrid>
              <a:tr h="3361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排版物件</a:t>
                      </a:r>
                      <a:endParaRPr lang="zh-TW" altLang="en-US" sz="1000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 ／ 資料庫連結</a:t>
                      </a:r>
                      <a:endParaRPr lang="zh-TW" altLang="en-US" sz="100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8050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底圖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傍晚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野餐、露營區、草地、後方餐車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51948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貓咪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800" dirty="0"/>
                        <a:t>塞爾凱克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 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\co_78.png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員工皮膚總覽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\co_8.png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992030"/>
                  </a:ext>
                </a:extLst>
              </a:tr>
              <a:tr h="2715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服飾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he_208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bo_227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fa_55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ba_134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ot_83</a:t>
                      </a:r>
                      <a:endParaRPr lang="zh-TW" altLang="en-US" sz="800" dirty="0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19573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貓咪背後的圓圈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參考過往素材，以泡泡風格呈現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或是同七夕的 </a:t>
                      </a:r>
                      <a:r>
                        <a:rPr lang="zh-TW" altLang="en-US" sz="8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光暈</a:t>
                      </a: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圈圈即可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554857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LOGO</a:t>
                      </a:r>
                      <a:endParaRPr lang="zh-TW" altLang="en-US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如果無法放在右下，請放在右上。</a:t>
                      </a:r>
                    </a:p>
                  </a:txBody>
                  <a:tcPr marL="91421" marR="91421" marT="91421" marB="91421" anchor="ctr">
                    <a:lnL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2635"/>
                  </a:ext>
                </a:extLst>
              </a:tr>
            </a:tbl>
          </a:graphicData>
        </a:graphic>
      </p:graphicFrame>
      <p:pic>
        <p:nvPicPr>
          <p:cNvPr id="26" name="圖片 25">
            <a:extLst>
              <a:ext uri="{FF2B5EF4-FFF2-40B4-BE49-F238E27FC236}">
                <a16:creationId xmlns:a16="http://schemas.microsoft.com/office/drawing/2014/main" id="{407CA911-F6C7-79A5-C408-31ED38789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799" y="4107883"/>
            <a:ext cx="1089515" cy="1035617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09BA1AF6-80B9-3C44-A49A-CFE303E063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1" r="5022"/>
          <a:stretch>
            <a:fillRect/>
          </a:stretch>
        </p:blipFill>
        <p:spPr>
          <a:xfrm>
            <a:off x="8025682" y="3976254"/>
            <a:ext cx="1118318" cy="1167235"/>
          </a:xfrm>
          <a:prstGeom prst="rect">
            <a:avLst/>
          </a:prstGeom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6105B6D1-BA12-3254-0ABE-E82386374739}"/>
              </a:ext>
            </a:extLst>
          </p:cNvPr>
          <p:cNvGrpSpPr/>
          <p:nvPr/>
        </p:nvGrpSpPr>
        <p:grpSpPr>
          <a:xfrm>
            <a:off x="210404" y="2490362"/>
            <a:ext cx="1251813" cy="1425769"/>
            <a:chOff x="236788" y="1050731"/>
            <a:chExt cx="1251813" cy="142576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932AEA6-67E4-4E18-FB67-3E733980F0E2}"/>
                </a:ext>
              </a:extLst>
            </p:cNvPr>
            <p:cNvSpPr/>
            <p:nvPr/>
          </p:nvSpPr>
          <p:spPr>
            <a:xfrm rot="20882035">
              <a:off x="236788" y="1050731"/>
              <a:ext cx="947010" cy="3357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占卜新花色</a:t>
              </a: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9839F259-255F-EC83-E0AA-8D1E04596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526" y="1501919"/>
              <a:ext cx="807075" cy="974581"/>
            </a:xfrm>
            <a:prstGeom prst="rect">
              <a:avLst/>
            </a:prstGeom>
          </p:spPr>
        </p:pic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EE7BF03-2EFB-838A-BA85-175DEEDD47A6}"/>
              </a:ext>
            </a:extLst>
          </p:cNvPr>
          <p:cNvGrpSpPr/>
          <p:nvPr/>
        </p:nvGrpSpPr>
        <p:grpSpPr>
          <a:xfrm>
            <a:off x="2308314" y="2791061"/>
            <a:ext cx="1470716" cy="1865393"/>
            <a:chOff x="1880881" y="1811058"/>
            <a:chExt cx="1470716" cy="186539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FAA3F9B-2511-8AC7-7509-85E3716DEF67}"/>
                </a:ext>
              </a:extLst>
            </p:cNvPr>
            <p:cNvSpPr/>
            <p:nvPr/>
          </p:nvSpPr>
          <p:spPr>
            <a:xfrm rot="20882035">
              <a:off x="1880881" y="1811058"/>
              <a:ext cx="947010" cy="3357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11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限時</a:t>
              </a:r>
              <a:r>
                <a:rPr lang="en-US" altLang="zh-TW" sz="11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</a:p>
            <a:p>
              <a:pPr algn="ctr"/>
              <a:r>
                <a:rPr lang="zh-TW" altLang="en-US" sz="11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占卜新服飾</a:t>
              </a:r>
            </a:p>
          </p:txBody>
        </p: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448B15EA-82A4-FF27-E125-F0E9BFF34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282" y="1839807"/>
              <a:ext cx="1469315" cy="1836644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97BAD80-5A79-6AE8-97BC-5E6CDE15D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2156421" y="2169725"/>
              <a:ext cx="781159" cy="97168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D1BC5D1-4670-F551-813E-08A533D50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16" r="14686"/>
            <a:stretch>
              <a:fillRect/>
            </a:stretch>
          </p:blipFill>
          <p:spPr>
            <a:xfrm>
              <a:off x="2354386" y="2669474"/>
              <a:ext cx="568866" cy="636651"/>
            </a:xfrm>
            <a:prstGeom prst="rect">
              <a:avLst/>
            </a:prstGeom>
          </p:spPr>
        </p:pic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58EC3E27-F952-AE33-EA86-04B36A83394B}"/>
              </a:ext>
            </a:extLst>
          </p:cNvPr>
          <p:cNvSpPr/>
          <p:nvPr/>
        </p:nvSpPr>
        <p:spPr>
          <a:xfrm>
            <a:off x="30249" y="326098"/>
            <a:ext cx="2308913" cy="524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v1.20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改版：新花色、新服裝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700BD9D-F200-7066-E0EA-0949EAB9C2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487630"/>
            <a:ext cx="3614777" cy="23389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117F9F6-6A92-FA18-886F-DBF89AB671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441" y="325866"/>
            <a:ext cx="918834" cy="52504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705344B-9816-D05A-C978-10C6275D29C7}"/>
              </a:ext>
            </a:extLst>
          </p:cNvPr>
          <p:cNvSpPr txBox="1"/>
          <p:nvPr/>
        </p:nvSpPr>
        <p:spPr>
          <a:xfrm>
            <a:off x="342712" y="4180515"/>
            <a:ext cx="881495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zh-TW" sz="1050" dirty="0">
                <a:effectLst/>
                <a:latin typeface="Monaco"/>
              </a:rPr>
              <a:t>塞爾凱克貓</a:t>
            </a:r>
            <a:endParaRPr lang="zh-TW" altLang="en-US" sz="105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75D2DB-921E-F959-1627-86B6CDF79091}"/>
              </a:ext>
            </a:extLst>
          </p:cNvPr>
          <p:cNvSpPr txBox="1"/>
          <p:nvPr/>
        </p:nvSpPr>
        <p:spPr>
          <a:xfrm>
            <a:off x="2583854" y="4089855"/>
            <a:ext cx="881495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50" dirty="0">
                <a:effectLst/>
                <a:latin typeface="Monaco"/>
              </a:rPr>
              <a:t>夏季套裝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84702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1296</Words>
  <Application>Microsoft Office PowerPoint</Application>
  <PresentationFormat>如螢幕大小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Monaco</vt:lpstr>
      <vt:lpstr>Microsoft JhengHei</vt:lpstr>
      <vt:lpstr>Microsoft JhengHei</vt:lpstr>
      <vt:lpstr>Aptos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65</cp:revision>
  <dcterms:modified xsi:type="dcterms:W3CDTF">2026-06-25T07:09:43Z</dcterms:modified>
</cp:coreProperties>
</file>