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61" r:id="rId4"/>
    <p:sldId id="264" r:id="rId5"/>
    <p:sldId id="262" r:id="rId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27BCB22-5DEB-4D4A-AEB1-C0894EA97893}">
  <a:tblStyle styleId="{D27BCB22-5DEB-4D4A-AEB1-C0894EA9789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0827450-85E5-4037-9B08-230FE2B864A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46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744" y="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3ce70d4e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3ce70d4e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6f67f4b9b1_2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6f67f4b9b1_2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6f67f4b9b1_5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6f67f4b9b1_5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16A4DED9-3FDB-0551-9B8F-BE60E89AB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6f67f4b9b1_5_37:notes">
            <a:extLst>
              <a:ext uri="{FF2B5EF4-FFF2-40B4-BE49-F238E27FC236}">
                <a16:creationId xmlns:a16="http://schemas.microsoft.com/office/drawing/2014/main" id="{49692FFF-0402-D2FA-CEB6-5615AC5CCB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6f67f4b9b1_5_37:notes">
            <a:extLst>
              <a:ext uri="{FF2B5EF4-FFF2-40B4-BE49-F238E27FC236}">
                <a16:creationId xmlns:a16="http://schemas.microsoft.com/office/drawing/2014/main" id="{56A399A3-B042-E621-399B-59AF947B44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836574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3ce70d4ea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73ce70d4ea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Google Shape;54;p13"/>
          <p:cNvGraphicFramePr/>
          <p:nvPr>
            <p:extLst>
              <p:ext uri="{D42A27DB-BD31-4B8C-83A1-F6EECF244321}">
                <p14:modId xmlns:p14="http://schemas.microsoft.com/office/powerpoint/2010/main" val="885059893"/>
              </p:ext>
            </p:extLst>
          </p:nvPr>
        </p:nvGraphicFramePr>
        <p:xfrm>
          <a:off x="360000" y="182550"/>
          <a:ext cx="8280050" cy="2910600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1445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34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素材名稱</a:t>
                      </a:r>
                      <a:endParaRPr sz="11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貓咪造咖</a:t>
                      </a:r>
                      <a:r>
                        <a:rPr 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：</a:t>
                      </a:r>
                      <a:r>
                        <a:rPr lang="en-US" alt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20260415</a:t>
                      </a:r>
                      <a:r>
                        <a:rPr lang="zh-TW" sz="11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_</a:t>
                      </a:r>
                      <a:r>
                        <a:rPr lang="zh-TW" altLang="en-US" sz="11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貓咪造咖</a:t>
                      </a:r>
                      <a:r>
                        <a:rPr lang="zh-TW" sz="11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_</a:t>
                      </a:r>
                      <a:r>
                        <a:rPr lang="zh-TW" altLang="en-US" sz="11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靜態廣宣</a:t>
                      </a:r>
                      <a:r>
                        <a:rPr lang="zh-TW" sz="11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_</a:t>
                      </a:r>
                      <a:r>
                        <a:rPr lang="zh-TW" altLang="en-US" sz="11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母親節篇</a:t>
                      </a:r>
                      <a:endParaRPr sz="11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檔案格式</a:t>
                      </a:r>
                      <a:endParaRPr sz="11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影片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Gif廣宣　　</a:t>
                      </a:r>
                      <a:r>
                        <a:rPr lang="zh-TW" altLang="zh-TW" sz="1200" b="1" dirty="0">
                          <a:solidFill>
                            <a:srgbClr val="CC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☑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靜態廣宣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商店頁圖片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H5廣宣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互動廣宣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其他：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媒體</a:t>
                      </a:r>
                      <a:endParaRPr sz="11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FB　　</a:t>
                      </a:r>
                      <a:r>
                        <a:rPr lang="zh-TW" altLang="en-US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Google　　</a:t>
                      </a:r>
                      <a:r>
                        <a:rPr lang="zh-TW" altLang="en-US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Tiktok　　</a:t>
                      </a:r>
                      <a:r>
                        <a:rPr lang="zh-TW" altLang="zh-TW" sz="1200" b="1" dirty="0">
                          <a:solidFill>
                            <a:srgbClr val="CC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☑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其他：</a:t>
                      </a:r>
                      <a:r>
                        <a:rPr lang="en-US" alt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IG</a:t>
                      </a: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</a:t>
                      </a:r>
                      <a:r>
                        <a:rPr lang="en-US" alt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FB</a:t>
                      </a: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</a:t>
                      </a:r>
                      <a:r>
                        <a:rPr lang="en-US" alt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Threads</a:t>
                      </a:r>
                      <a:endParaRPr sz="1200" b="1" dirty="0">
                        <a:solidFill>
                          <a:srgbClr val="CC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總支數</a:t>
                      </a:r>
                      <a:r>
                        <a:rPr lang="zh-TW" sz="7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(特殊規格說明)</a:t>
                      </a:r>
                      <a:endParaRPr sz="7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</a:t>
                      </a:r>
                      <a:endParaRPr sz="1000" b="1" dirty="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0000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最大秒數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altLang="zh-TW" sz="12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</a:t>
                      </a:r>
                      <a:endParaRPr sz="10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素材類型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 dirty="0">
                          <a:solidFill>
                            <a:srgbClr val="CC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☑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全新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部分沿用舊素材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舊素材微調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relanguage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resize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影像特殊需求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</a:t>
                      </a:r>
                      <a:endParaRPr sz="1000" dirty="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音效特殊需求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</a:t>
                      </a:r>
                      <a:endParaRPr sz="1000" dirty="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5" name="Google Shape;55;p13"/>
          <p:cNvGraphicFramePr/>
          <p:nvPr/>
        </p:nvGraphicFramePr>
        <p:xfrm>
          <a:off x="-405700" y="182550"/>
          <a:ext cx="765700" cy="365730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 b="1">
                          <a:solidFill>
                            <a:srgbClr val="CC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☑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6" name="Google Shape;56;p13"/>
          <p:cNvGraphicFramePr/>
          <p:nvPr>
            <p:extLst>
              <p:ext uri="{D42A27DB-BD31-4B8C-83A1-F6EECF244321}">
                <p14:modId xmlns:p14="http://schemas.microsoft.com/office/powerpoint/2010/main" val="362504855"/>
              </p:ext>
            </p:extLst>
          </p:nvPr>
        </p:nvGraphicFramePr>
        <p:xfrm>
          <a:off x="359988" y="3229200"/>
          <a:ext cx="8280075" cy="1752450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1445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3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9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畫面風格</a:t>
                      </a:r>
                      <a:endParaRPr sz="11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dirty="0"/>
                        <a:t>可愛療癒、歐式淑女風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配樂風格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廣告TA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30</a:t>
                      </a: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en-US" alt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–</a:t>
                      </a: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en-US" alt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44</a:t>
                      </a: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歲的女性玩家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廣告目的</a:t>
                      </a:r>
                      <a:endParaRPr sz="11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廣告鉤子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配合節日發送兌換碼，維持社群玩家互動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Google Shape;61;p14"/>
          <p:cNvGraphicFramePr/>
          <p:nvPr>
            <p:extLst>
              <p:ext uri="{D42A27DB-BD31-4B8C-83A1-F6EECF244321}">
                <p14:modId xmlns:p14="http://schemas.microsoft.com/office/powerpoint/2010/main" val="1269067679"/>
              </p:ext>
            </p:extLst>
          </p:nvPr>
        </p:nvGraphicFramePr>
        <p:xfrm>
          <a:off x="0" y="0"/>
          <a:ext cx="9143975" cy="5147875"/>
        </p:xfrm>
        <a:graphic>
          <a:graphicData uri="http://schemas.openxmlformats.org/drawingml/2006/table">
            <a:tbl>
              <a:tblPr>
                <a:noFill/>
                <a:tableStyleId>{00827450-85E5-4037-9B08-230FE2B864AC}</a:tableStyleId>
              </a:tblPr>
              <a:tblGrid>
                <a:gridCol w="132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2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2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2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6850">
                <a:tc gridSpan="5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素材尺寸 (需求標黃底, 紅字優先對稿)</a:t>
                      </a:r>
                      <a:endParaRPr sz="18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類別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素材類型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檔案格式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尺寸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備註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0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150">
                <a:tc row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適用廣告/社群素材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Banner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1920*1080、1080*1920、</a:t>
                      </a:r>
                      <a:r>
                        <a:rPr lang="zh-TW" sz="100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1080*1350</a:t>
                      </a: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</a:t>
                      </a:r>
                      <a:r>
                        <a:rPr lang="zh-TW" sz="100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1080*1080</a:t>
                      </a: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、1200*628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Video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mp4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1920*1080、</a:t>
                      </a:r>
                      <a:r>
                        <a:rPr lang="zh-TW" sz="1000" dirty="0">
                          <a:solidFill>
                            <a:srgbClr val="FF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1080*1920</a:t>
                      </a: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、1080*1350、1080*1080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Gif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1920*1080、1080*1920、1080*1350、1080*1080、1200*628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mp4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1920*1080、1080*1920、1080*1350、1080*1080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6850">
                <a:tc rowSpan="5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適用商店頁素材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Screenshot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F4CCCC"/>
                        </a:highlight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橫：1920*1080 (AN)、2732*2048 (iOS iPAD)、2688*1242、2208*1242 (iOS手機)</a:t>
                      </a:r>
                      <a:b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直：1080*1920 (AN)、2048*2732 (iOS iPAD)、1242*2688、1242*2208 (iOS手機)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主題圖片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1024*500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Liveops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1080*1920、1920*1080、1080*1080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主題影片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mp4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1920*1080、1920*886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Icon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512*512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&lt;1MB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20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其他 (自填尺寸)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3" name="Google Shape;83;p18"/>
          <p:cNvGraphicFramePr/>
          <p:nvPr>
            <p:extLst>
              <p:ext uri="{D42A27DB-BD31-4B8C-83A1-F6EECF244321}">
                <p14:modId xmlns:p14="http://schemas.microsoft.com/office/powerpoint/2010/main" val="4044810058"/>
              </p:ext>
            </p:extLst>
          </p:nvPr>
        </p:nvGraphicFramePr>
        <p:xfrm flipH="1">
          <a:off x="3614775" y="-1"/>
          <a:ext cx="5529225" cy="5309514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850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7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219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排版物件</a:t>
                      </a:r>
                      <a:endParaRPr sz="10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說明 ／ 資料庫連結</a:t>
                      </a:r>
                      <a:endParaRPr sz="10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11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背景</a:t>
                      </a:r>
                      <a:endParaRPr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早晨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 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康乃馨花園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粉嫩莫藍迪色系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11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排版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貓咪們坐在花園的椅子上悠閒的聊天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樹上垂釣的木牌上寫兌換碼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背景可以有一些自然的光暈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3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腳色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兩隻貓貓微笑的休息、享受茶會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腳色參考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: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X:\grp.product.art.check\【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貓咖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】\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劇情對話貓</a:t>
                      </a: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Customer_0030_skin00_happy</a:t>
                      </a: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Customer_0033_skin00_happy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服裝穿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bo_129</a:t>
                      </a: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Bo_46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he_57</a:t>
                      </a: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87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物件</a:t>
                      </a:r>
                      <a:endParaRPr lang="en-US" altLang="zh-TW"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木牌請協助像素化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4224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LOGI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文字</a:t>
                      </a:r>
                      <a:endParaRPr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LOGO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-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 右上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文字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-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zh-TW" alt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兌換碼</a:t>
                      </a:r>
                      <a:r>
                        <a:rPr kumimoji="0" lang="en-US" altLang="zh-TW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:</a:t>
                      </a:r>
                      <a:r>
                        <a:rPr kumimoji="0" lang="zh-TW" alt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endParaRPr kumimoji="0" lang="en-US" altLang="zh-TW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TW" sz="1000" dirty="0"/>
                        <a:t>MOTHERSDAY</a:t>
                      </a:r>
                      <a:endParaRPr lang="en-US" altLang="zh-TW" sz="1000" b="1" dirty="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4" name="Google Shape;84;p18"/>
          <p:cNvGraphicFramePr/>
          <p:nvPr/>
        </p:nvGraphicFramePr>
        <p:xfrm>
          <a:off x="-12" y="-12"/>
          <a:ext cx="3614775" cy="5143500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127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39675">
                <a:tc rowSpan="2" gridSpan="3">
                  <a:txBody>
                    <a:bodyPr/>
                    <a:lstStyle/>
                    <a:p>
                      <a:pPr marL="0" lvl="0" indent="0" algn="l" rtl="0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3825">
                <a:tc gridSpan="3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" name="Picture 2" descr="故事 Pin 圖片">
            <a:extLst>
              <a:ext uri="{FF2B5EF4-FFF2-40B4-BE49-F238E27FC236}">
                <a16:creationId xmlns:a16="http://schemas.microsoft.com/office/drawing/2014/main" id="{45D134A9-CCB6-E6C5-95D8-0FB0FCCEA4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925" y="-12"/>
            <a:ext cx="28829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白色背景上隔离悬挂的旧中世纪木板的清晰像素图片| Premium AI 生成图像">
            <a:extLst>
              <a:ext uri="{FF2B5EF4-FFF2-40B4-BE49-F238E27FC236}">
                <a16:creationId xmlns:a16="http://schemas.microsoft.com/office/drawing/2014/main" id="{5D1085EC-20DE-62A5-894D-BF60F6CE72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/>
          <a:srcRect l="16136" r="14132" b="13104"/>
          <a:stretch>
            <a:fillRect/>
          </a:stretch>
        </p:blipFill>
        <p:spPr bwMode="auto">
          <a:xfrm>
            <a:off x="975358" y="904986"/>
            <a:ext cx="1746578" cy="1448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9CC3975B-3D48-23C9-1100-90F39C2FEF2C}"/>
              </a:ext>
            </a:extLst>
          </p:cNvPr>
          <p:cNvSpPr txBox="1"/>
          <p:nvPr/>
        </p:nvSpPr>
        <p:spPr>
          <a:xfrm>
            <a:off x="1136023" y="345797"/>
            <a:ext cx="13427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zh-TW" sz="1400" dirty="0">
                <a:solidFill>
                  <a:schemeClr val="dk1"/>
                </a:solidFill>
                <a:highlight>
                  <a:srgbClr val="FFFF00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1080*1350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03E1536-BD18-3F74-3227-52C086DB9D61}"/>
              </a:ext>
            </a:extLst>
          </p:cNvPr>
          <p:cNvSpPr txBox="1"/>
          <p:nvPr/>
        </p:nvSpPr>
        <p:spPr>
          <a:xfrm>
            <a:off x="917043" y="1629163"/>
            <a:ext cx="18632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dirty="0">
                <a:solidFill>
                  <a:schemeClr val="bg1"/>
                </a:solidFill>
              </a:rPr>
              <a:t>兌換碼</a:t>
            </a:r>
            <a:r>
              <a:rPr lang="en-US" altLang="zh-TW" dirty="0">
                <a:solidFill>
                  <a:schemeClr val="bg1"/>
                </a:solidFill>
              </a:rPr>
              <a:t>:</a:t>
            </a:r>
          </a:p>
          <a:p>
            <a:pPr algn="ctr"/>
            <a:r>
              <a:rPr lang="en-US" altLang="zh-TW" dirty="0">
                <a:solidFill>
                  <a:schemeClr val="bg1"/>
                </a:solidFill>
              </a:rPr>
              <a:t>【MOTHERSDAY】</a:t>
            </a:r>
            <a:endParaRPr lang="zh-TW" altLang="en-US" dirty="0">
              <a:solidFill>
                <a:schemeClr val="bg1"/>
              </a:solidFill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F7C3857-FCF8-A223-EB7A-9B02A405F3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" y="2229213"/>
            <a:ext cx="1504359" cy="1782944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BEACDB59-B53D-105B-9398-0D78D9A1CB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2018035" y="2329735"/>
            <a:ext cx="1466117" cy="1706027"/>
          </a:xfrm>
          <a:prstGeom prst="rect">
            <a:avLst/>
          </a:prstGeom>
        </p:spPr>
      </p:pic>
      <p:pic>
        <p:nvPicPr>
          <p:cNvPr id="1032" name="Picture 8" descr="康乃馨花, 康乃馨, 花, 橙PNG去背圖片素材免費下載，免摳圖設計圖案下載- Pngtree">
            <a:extLst>
              <a:ext uri="{FF2B5EF4-FFF2-40B4-BE49-F238E27FC236}">
                <a16:creationId xmlns:a16="http://schemas.microsoft.com/office/drawing/2014/main" id="{DC110657-897F-6ABD-EC74-3ADE4EDB08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0502" y="345797"/>
            <a:ext cx="1932910" cy="1932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5F5AF43F-A16C-39E3-DAB3-192A9D4C1A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344985" y="2876560"/>
            <a:ext cx="1008330" cy="1260413"/>
          </a:xfrm>
          <a:prstGeom prst="rect">
            <a:avLst/>
          </a:prstGeom>
        </p:spPr>
      </p:pic>
      <p:pic>
        <p:nvPicPr>
          <p:cNvPr id="27" name="圖片 26">
            <a:extLst>
              <a:ext uri="{FF2B5EF4-FFF2-40B4-BE49-F238E27FC236}">
                <a16:creationId xmlns:a16="http://schemas.microsoft.com/office/drawing/2014/main" id="{80905092-9D5F-FE5D-0092-312D013F3BB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86251" y="2945987"/>
            <a:ext cx="1099574" cy="1374468"/>
          </a:xfrm>
          <a:prstGeom prst="rect">
            <a:avLst/>
          </a:prstGeom>
        </p:spPr>
      </p:pic>
      <p:pic>
        <p:nvPicPr>
          <p:cNvPr id="34" name="圖片 33">
            <a:extLst>
              <a:ext uri="{FF2B5EF4-FFF2-40B4-BE49-F238E27FC236}">
                <a16:creationId xmlns:a16="http://schemas.microsoft.com/office/drawing/2014/main" id="{6FEEEA6C-FF27-78D5-49C8-AF6F1ED9DA1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48385" y="2305060"/>
            <a:ext cx="914400" cy="1143000"/>
          </a:xfrm>
          <a:prstGeom prst="rect">
            <a:avLst/>
          </a:prstGeom>
        </p:spPr>
      </p:pic>
      <p:pic>
        <p:nvPicPr>
          <p:cNvPr id="32" name="圖片 31">
            <a:extLst>
              <a:ext uri="{FF2B5EF4-FFF2-40B4-BE49-F238E27FC236}">
                <a16:creationId xmlns:a16="http://schemas.microsoft.com/office/drawing/2014/main" id="{309CE318-9FF1-5135-71EE-7323EE5A8F6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76784" y="97513"/>
            <a:ext cx="982852" cy="5183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D86EE93C-D1FE-323B-3528-ADB3043AE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3" name="Google Shape;83;p18">
            <a:extLst>
              <a:ext uri="{FF2B5EF4-FFF2-40B4-BE49-F238E27FC236}">
                <a16:creationId xmlns:a16="http://schemas.microsoft.com/office/drawing/2014/main" id="{77DA4215-EC43-5F95-C26E-7627B775A0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1518848"/>
              </p:ext>
            </p:extLst>
          </p:nvPr>
        </p:nvGraphicFramePr>
        <p:xfrm flipH="1">
          <a:off x="3614775" y="-1"/>
          <a:ext cx="5529225" cy="5309514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850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7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219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排版物件</a:t>
                      </a:r>
                      <a:endParaRPr sz="10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說明 ／ 資料庫連結</a:t>
                      </a:r>
                      <a:endParaRPr sz="10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11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背景</a:t>
                      </a:r>
                      <a:endParaRPr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早晨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 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康乃馨花園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粉嫩莫藍迪色系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11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排版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貓咪們坐在花園的椅子上悠閒的聊天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背景可以有一些自然的光暈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3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腳色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兩隻貓貓微笑的休息、享受茶會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腳色參考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: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X:\grp.product.art.check\【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貓咖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】\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劇情對話貓</a:t>
                      </a: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Customer_0030_skin00_happy</a:t>
                      </a: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Customer_0033_skin00_happy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服裝穿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bo_129</a:t>
                      </a: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Bo_46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he_57</a:t>
                      </a: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87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物件</a:t>
                      </a:r>
                      <a:endParaRPr lang="en-US" altLang="zh-TW"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木牌請協助像素化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4224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LOGI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文字</a:t>
                      </a:r>
                      <a:endParaRPr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LOGO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-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 右上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4" name="Google Shape;84;p18">
            <a:extLst>
              <a:ext uri="{FF2B5EF4-FFF2-40B4-BE49-F238E27FC236}">
                <a16:creationId xmlns:a16="http://schemas.microsoft.com/office/drawing/2014/main" id="{0AF192BB-8C1C-0550-083A-DBBD9546D71D}"/>
              </a:ext>
            </a:extLst>
          </p:cNvPr>
          <p:cNvGraphicFramePr/>
          <p:nvPr/>
        </p:nvGraphicFramePr>
        <p:xfrm>
          <a:off x="-12" y="-12"/>
          <a:ext cx="3614775" cy="5143500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127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39675">
                <a:tc rowSpan="2" gridSpan="3">
                  <a:txBody>
                    <a:bodyPr/>
                    <a:lstStyle/>
                    <a:p>
                      <a:pPr marL="0" lvl="0" indent="0" algn="l" rtl="0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3825">
                <a:tc gridSpan="3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" name="Picture 2" descr="故事 Pin 圖片">
            <a:extLst>
              <a:ext uri="{FF2B5EF4-FFF2-40B4-BE49-F238E27FC236}">
                <a16:creationId xmlns:a16="http://schemas.microsoft.com/office/drawing/2014/main" id="{13EDC4C9-7F5A-E537-4B52-C3D74976F7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" t="35357" r="-97" b="10672"/>
          <a:stretch>
            <a:fillRect/>
          </a:stretch>
        </p:blipFill>
        <p:spPr bwMode="auto">
          <a:xfrm>
            <a:off x="365925" y="1786248"/>
            <a:ext cx="2882900" cy="2775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4654D8F7-70E5-4BD1-4250-5DD4714233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" y="2229213"/>
            <a:ext cx="1504359" cy="1782944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78295534-7BEE-B2A9-8983-AE9233CF06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2018035" y="2329735"/>
            <a:ext cx="1466117" cy="1706027"/>
          </a:xfrm>
          <a:prstGeom prst="rect">
            <a:avLst/>
          </a:prstGeom>
        </p:spPr>
      </p:pic>
      <p:pic>
        <p:nvPicPr>
          <p:cNvPr id="1032" name="Picture 8" descr="康乃馨花, 康乃馨, 花, 橙PNG去背圖片素材免費下載，免摳圖設計圖案下載- Pngtree">
            <a:extLst>
              <a:ext uri="{FF2B5EF4-FFF2-40B4-BE49-F238E27FC236}">
                <a16:creationId xmlns:a16="http://schemas.microsoft.com/office/drawing/2014/main" id="{7B9F7037-0625-7BED-A9D2-74ED77D5DA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0502" y="345797"/>
            <a:ext cx="1932910" cy="1932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7C589DF1-390F-39D0-233D-0C86462580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344985" y="2876560"/>
            <a:ext cx="1008330" cy="1260413"/>
          </a:xfrm>
          <a:prstGeom prst="rect">
            <a:avLst/>
          </a:prstGeom>
        </p:spPr>
      </p:pic>
      <p:pic>
        <p:nvPicPr>
          <p:cNvPr id="27" name="圖片 26">
            <a:extLst>
              <a:ext uri="{FF2B5EF4-FFF2-40B4-BE49-F238E27FC236}">
                <a16:creationId xmlns:a16="http://schemas.microsoft.com/office/drawing/2014/main" id="{8572CDCD-113B-3291-E39A-09B09E1563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86251" y="2945987"/>
            <a:ext cx="1099574" cy="1374468"/>
          </a:xfrm>
          <a:prstGeom prst="rect">
            <a:avLst/>
          </a:prstGeom>
        </p:spPr>
      </p:pic>
      <p:pic>
        <p:nvPicPr>
          <p:cNvPr id="34" name="圖片 33">
            <a:extLst>
              <a:ext uri="{FF2B5EF4-FFF2-40B4-BE49-F238E27FC236}">
                <a16:creationId xmlns:a16="http://schemas.microsoft.com/office/drawing/2014/main" id="{91881194-9567-C0D0-6A88-FF99A9BF608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48385" y="2305060"/>
            <a:ext cx="914400" cy="1143000"/>
          </a:xfrm>
          <a:prstGeom prst="rect">
            <a:avLst/>
          </a:prstGeom>
        </p:spPr>
      </p:pic>
      <p:pic>
        <p:nvPicPr>
          <p:cNvPr id="32" name="圖片 31">
            <a:extLst>
              <a:ext uri="{FF2B5EF4-FFF2-40B4-BE49-F238E27FC236}">
                <a16:creationId xmlns:a16="http://schemas.microsoft.com/office/drawing/2014/main" id="{3E8EECDD-D41F-489D-1E17-9DC48F084CA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44612" y="1799096"/>
            <a:ext cx="982852" cy="518301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2C3C2681-66FB-0F7F-4C47-36C90611E7FC}"/>
              </a:ext>
            </a:extLst>
          </p:cNvPr>
          <p:cNvSpPr txBox="1"/>
          <p:nvPr/>
        </p:nvSpPr>
        <p:spPr>
          <a:xfrm>
            <a:off x="1136023" y="345797"/>
            <a:ext cx="13427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zh-TW" sz="1400" dirty="0">
                <a:solidFill>
                  <a:schemeClr val="dk1"/>
                </a:solidFill>
                <a:highlight>
                  <a:srgbClr val="FFFF00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1080*1</a:t>
            </a:r>
            <a:r>
              <a:rPr lang="en-US" altLang="zh-TW" sz="1400" dirty="0">
                <a:solidFill>
                  <a:schemeClr val="dk1"/>
                </a:solidFill>
                <a:highlight>
                  <a:srgbClr val="FFFF00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080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97294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" name="Google Shape;89;p19"/>
          <p:cNvGraphicFramePr/>
          <p:nvPr/>
        </p:nvGraphicFramePr>
        <p:xfrm>
          <a:off x="0" y="-8287"/>
          <a:ext cx="9144000" cy="5143450"/>
        </p:xfrm>
        <a:graphic>
          <a:graphicData uri="http://schemas.openxmlformats.org/drawingml/2006/table">
            <a:tbl>
              <a:tblPr>
                <a:noFill/>
                <a:tableStyleId>{00827450-85E5-4037-9B08-230FE2B864AC}</a:tableStyleId>
              </a:tblPr>
              <a:tblGrid>
                <a:gridCol w="110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2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43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4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0650">
                <a:tc grid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素材規範</a:t>
                      </a:r>
                      <a:endParaRPr sz="20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50">
                <a:tc grid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統一適用後續每支</a:t>
                      </a:r>
                      <a:r>
                        <a:rPr lang="zh-TW" sz="800" b="1">
                          <a:solidFill>
                            <a:schemeClr val="dk1"/>
                          </a:solidFill>
                          <a:highlight>
                            <a:srgbClr val="F4CCCC"/>
                          </a:highlight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廣告素材（商店頁不適用）</a:t>
                      </a:r>
                      <a:r>
                        <a:rPr lang="zh-TW" sz="8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，並將不在腳本中特別註明</a:t>
                      </a:r>
                      <a:endParaRPr sz="8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75"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類別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說明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規格/ 示意圖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備註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27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400">
                <a:tc row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尺寸安全框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highlight>
                            <a:srgbClr val="FFF2CC"/>
                          </a:highlight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重點訊息</a:t>
                      </a: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請優先放置於安全區內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1475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1475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07825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33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logo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畫面左上置頂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FFF2CC"/>
                        </a:highlight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依素材內容套用，若背景太花logo不明顯，加背景相近色的色塊底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37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分級標誌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右下置底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FFF2CC"/>
                        </a:highlight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適用台灣遊戲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126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警語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下方置底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FFF2CC"/>
                        </a:highlight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最小化字級，分行最多不超過兩行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依素材內容套用 (1)文字與背景相近色、(2)文字與文案相近字型、(3)可不加色塊底/ 加背景相近色的色塊底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台灣：這不是一款賭博遊戲，且無任何方式可以贏得金錢獎勵或具有金錢價值的獎品。嚴禁賭博。</a:t>
                      </a:r>
                      <a:b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印尼：Game ini tidak menyediakan aktivitas perjudian apa pun, chips dalam game tidak dapat ditukar dengan uang tunai atau barang nyata lainnya.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適用印尼及中文德撲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90" name="Google Shape;90;p19"/>
          <p:cNvPicPr preferRelativeResize="0"/>
          <p:nvPr/>
        </p:nvPicPr>
        <p:blipFill rotWithShape="1">
          <a:blip r:embed="rId3">
            <a:alphaModFix/>
          </a:blip>
          <a:srcRect l="29687" t="12599" r="3703" b="17012"/>
          <a:stretch/>
        </p:blipFill>
        <p:spPr>
          <a:xfrm>
            <a:off x="2436075" y="1327125"/>
            <a:ext cx="1676449" cy="177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5675" y="1712000"/>
            <a:ext cx="2072491" cy="1082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9"/>
          <p:cNvPicPr preferRelativeResize="0"/>
          <p:nvPr/>
        </p:nvPicPr>
        <p:blipFill rotWithShape="1">
          <a:blip r:embed="rId5">
            <a:alphaModFix/>
          </a:blip>
          <a:srcRect t="26714" b="13131"/>
          <a:stretch/>
        </p:blipFill>
        <p:spPr>
          <a:xfrm>
            <a:off x="6351325" y="1409024"/>
            <a:ext cx="2130050" cy="1607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512</TotalTime>
  <Words>789</Words>
  <Application>Microsoft Office PowerPoint</Application>
  <PresentationFormat>如螢幕大小 (16:9)</PresentationFormat>
  <Paragraphs>137</Paragraphs>
  <Slides>5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8" baseType="lpstr">
      <vt:lpstr>Microsoft JhengHei</vt:lpstr>
      <vt:lpstr>Arial</vt:lpstr>
      <vt:lpstr>Simple Light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William</dc:creator>
  <cp:lastModifiedBy>柴怡辰 jhuo.chai</cp:lastModifiedBy>
  <cp:revision>9</cp:revision>
  <dcterms:modified xsi:type="dcterms:W3CDTF">2026-04-28T02:59:44Z</dcterms:modified>
</cp:coreProperties>
</file>