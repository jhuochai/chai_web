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4" r:id="rId6"/>
    <p:sldId id="265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BCB22-5DEB-4D4A-AEB1-C0894EA97893}">
  <a:tblStyle styleId="{D27BCB22-5DEB-4D4A-AEB1-C0894EA978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827450-85E5-4037-9B08-230FE2B864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19" autoAdjust="0"/>
  </p:normalViewPr>
  <p:slideViewPr>
    <p:cSldViewPr snapToGrid="0">
      <p:cViewPr varScale="1">
        <p:scale>
          <a:sx n="76" d="100"/>
          <a:sy n="76" d="100"/>
        </p:scale>
        <p:origin x="1027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ce70d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ce70d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f67f4b9b1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f67f4b9b1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f67f4b9b1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f67f4b9b1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f67f4b9b1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f67f4b9b1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CF8EE1DC-CB60-5FDA-DF58-FA52EC7C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f67f4b9b1_5_0:notes">
            <a:extLst>
              <a:ext uri="{FF2B5EF4-FFF2-40B4-BE49-F238E27FC236}">
                <a16:creationId xmlns:a16="http://schemas.microsoft.com/office/drawing/2014/main" id="{B2ABF95B-EA01-28F8-B2C0-1624D1EE4D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f67f4b9b1_5_0:notes">
            <a:extLst>
              <a:ext uri="{FF2B5EF4-FFF2-40B4-BE49-F238E27FC236}">
                <a16:creationId xmlns:a16="http://schemas.microsoft.com/office/drawing/2014/main" id="{04AE29B4-2FB7-8703-C3CA-EB3061371F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818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16A6AE6D-D6AB-6DBC-6086-DD4371B2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f67f4b9b1_5_0:notes">
            <a:extLst>
              <a:ext uri="{FF2B5EF4-FFF2-40B4-BE49-F238E27FC236}">
                <a16:creationId xmlns:a16="http://schemas.microsoft.com/office/drawing/2014/main" id="{65F27211-F4ED-03F0-1F41-0F14DD541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f67f4b9b1_5_0:notes">
            <a:extLst>
              <a:ext uri="{FF2B5EF4-FFF2-40B4-BE49-F238E27FC236}">
                <a16:creationId xmlns:a16="http://schemas.microsoft.com/office/drawing/2014/main" id="{3B59BE64-0E61-DB8B-9344-7A5AFFC820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567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ce70d4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3ce70d4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pe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10.jpe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4266882093"/>
              </p:ext>
            </p:extLst>
          </p:nvPr>
        </p:nvGraphicFramePr>
        <p:xfrm>
          <a:off x="360000" y="182550"/>
          <a:ext cx="8280050" cy="289536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素材名稱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：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20260428_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_GIF_</a:t>
                      </a: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太空林肯貓篇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影片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Gif廣宣　　</a:t>
                      </a:r>
                      <a:r>
                        <a:rPr lang="zh-TW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商店頁圖片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H5廣宣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互動廣宣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媒體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　　</a:t>
                      </a: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Google　　</a:t>
                      </a:r>
                      <a:r>
                        <a:rPr lang="zh-TW" alt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Tiktok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IG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</a:t>
                      </a:r>
                      <a:endParaRPr sz="1200" b="1" dirty="0">
                        <a:solidFill>
                          <a:srgbClr val="CC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總支數</a:t>
                      </a:r>
                      <a:r>
                        <a:rPr lang="zh-TW" sz="7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(特殊規格說明)</a:t>
                      </a:r>
                      <a:endParaRPr sz="7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0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0000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最大秒數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 sz="10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全新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部分沿用舊素材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舊素材微調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relanguage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resize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影像特殊需求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Google Shape;55;p13"/>
          <p:cNvGraphicFramePr/>
          <p:nvPr/>
        </p:nvGraphicFramePr>
        <p:xfrm>
          <a:off x="-405700" y="182550"/>
          <a:ext cx="765700" cy="36573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b="1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oogle Shape;56;p13"/>
          <p:cNvGraphicFramePr/>
          <p:nvPr>
            <p:extLst>
              <p:ext uri="{D42A27DB-BD31-4B8C-83A1-F6EECF244321}">
                <p14:modId xmlns:p14="http://schemas.microsoft.com/office/powerpoint/2010/main" val="3849350268"/>
              </p:ext>
            </p:extLst>
          </p:nvPr>
        </p:nvGraphicFramePr>
        <p:xfrm>
          <a:off x="359988" y="3229200"/>
          <a:ext cx="8280075" cy="17524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畫面風格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太空風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配樂風格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廣告TA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追蹤貓咖的玩家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廣告目的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希望用戶按讚、追蹤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廣告鉤子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名人名言改編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諧音梗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3315629878"/>
              </p:ext>
            </p:extLst>
          </p:nvPr>
        </p:nvGraphicFramePr>
        <p:xfrm>
          <a:off x="0" y="0"/>
          <a:ext cx="9143975" cy="5147875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32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8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素材尺寸 (需求標黃底, 紅字優先對稿)</a:t>
                      </a:r>
                      <a:endParaRPr sz="18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150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適用廣告/社群素材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Banner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Video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</a:t>
                      </a:r>
                      <a:r>
                        <a:rPr lang="zh-TW" sz="1000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、1080*1350、1080*1080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1080*1350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、1080*1080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8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適用商店頁素材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Screenshot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橫：1920*1080 (AN)、2732*2048 (iOS iPAD)、2688*1242、2208*1242 (iOS手機)</a:t>
                      </a:r>
                      <a:b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直：1080*1920 (AN)、2048*2732 (iOS iPAD)、1242*2688、1242*2208 (iOS手機)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主題圖片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1024*500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Liveops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1080*1920、1920*1080、1080*1080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主題影片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1920*1080、1920*886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Icon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512*512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&lt;1MB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 (自填尺寸)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15"/>
          <p:cNvGraphicFramePr/>
          <p:nvPr>
            <p:extLst>
              <p:ext uri="{D42A27DB-BD31-4B8C-83A1-F6EECF244321}">
                <p14:modId xmlns:p14="http://schemas.microsoft.com/office/powerpoint/2010/main" val="2055728807"/>
              </p:ext>
            </p:extLst>
          </p:nvPr>
        </p:nvGraphicFramePr>
        <p:xfrm>
          <a:off x="50" y="25"/>
          <a:ext cx="9143975" cy="5143495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76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725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分鏡總表</a:t>
                      </a:r>
                      <a:endParaRPr sz="2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 dirty="0">
                          <a:solidFill>
                            <a:srgbClr val="99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僅動態素材(gif/ video)才需填寫</a:t>
                      </a:r>
                      <a:endParaRPr sz="800" b="1" dirty="0">
                        <a:solidFill>
                          <a:srgbClr val="99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6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分鏡說明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2860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貓咪蹦蹦跳跳地從畫面右側走到左側</a:t>
                      </a:r>
                      <a:endParaRPr lang="en-US" altLang="zh-TW"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eriod"/>
                        <a:tabLst/>
                        <a:defRPr/>
                      </a:pP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貓咪再蹦蹦跳跳地從畫面左側走到右側</a:t>
                      </a:r>
                      <a:endParaRPr lang="en-US" altLang="zh-TW"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eriod"/>
                        <a:tabLst/>
                        <a:defRPr/>
                      </a:pP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貓咪一步一步地從畫面後面走到前、伸出手指螢幕，說「尼的一小讚，是貓咖的一大站</a:t>
                      </a:r>
                      <a:r>
                        <a:rPr lang="en-US" altLang="zh-TW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!</a:t>
                      </a:r>
                      <a:r>
                        <a:rPr lang="zh-TW" altLang="en-US" sz="10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」</a:t>
                      </a:r>
                      <a:endParaRPr lang="en-US" altLang="zh-TW"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zh-TW"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22860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sz="10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66B8D83A-DAE0-97D8-8C25-C63312F90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228" y="1515794"/>
            <a:ext cx="1728231" cy="211191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9BCE763-AED7-6105-76FE-A51E1F4BD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670" y="1515793"/>
            <a:ext cx="1728231" cy="212238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BA91E01-1EE0-2425-2D80-3A40AA177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112" y="1515793"/>
            <a:ext cx="1728230" cy="21223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/>
          <p:cNvGraphicFramePr/>
          <p:nvPr>
            <p:extLst>
              <p:ext uri="{D42A27DB-BD31-4B8C-83A1-F6EECF244321}">
                <p14:modId xmlns:p14="http://schemas.microsoft.com/office/powerpoint/2010/main" val="2891742702"/>
              </p:ext>
            </p:extLst>
          </p:nvPr>
        </p:nvGraphicFramePr>
        <p:xfrm>
          <a:off x="3614775" y="0"/>
          <a:ext cx="5529225" cy="551579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外太空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星星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元素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身穿太空服全套的店長貓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太空衣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收集冊服裝；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bo_7)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太空帽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收集冊服裝；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he_7)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背後如果看得到加上火箭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收集冊服裝；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ba_3)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土星、火星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右上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視角／鏡位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動態說明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文案/ 對白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平視／中景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店長貓從畫面右側飄著走到左側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約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步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1-2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音樂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7" name="Google Shape;77;p17"/>
          <p:cNvGraphicFramePr/>
          <p:nvPr/>
        </p:nvGraphicFramePr>
        <p:xfrm>
          <a:off x="-12" y="335238"/>
          <a:ext cx="3614775" cy="4808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88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37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" name="Google Shape;78;p17"/>
          <p:cNvGraphicFramePr/>
          <p:nvPr>
            <p:extLst>
              <p:ext uri="{D42A27DB-BD31-4B8C-83A1-F6EECF244321}">
                <p14:modId xmlns:p14="http://schemas.microsoft.com/office/powerpoint/2010/main" val="3211501199"/>
              </p:ext>
            </p:extLst>
          </p:nvPr>
        </p:nvGraphicFramePr>
        <p:xfrm>
          <a:off x="0" y="0"/>
          <a:ext cx="3614775" cy="335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47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1-2</a:t>
                      </a:r>
                      <a:r>
                        <a:rPr lang="zh-TW" altLang="en-US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群組 1">
            <a:extLst>
              <a:ext uri="{FF2B5EF4-FFF2-40B4-BE49-F238E27FC236}">
                <a16:creationId xmlns:a16="http://schemas.microsoft.com/office/drawing/2014/main" id="{FA6A2FDA-4F18-9981-48C0-6A94F64D99C0}"/>
              </a:ext>
            </a:extLst>
          </p:cNvPr>
          <p:cNvGrpSpPr/>
          <p:nvPr/>
        </p:nvGrpSpPr>
        <p:grpSpPr>
          <a:xfrm>
            <a:off x="2151" y="442824"/>
            <a:ext cx="3612612" cy="4435375"/>
            <a:chOff x="-24" y="703076"/>
            <a:chExt cx="3612612" cy="4435375"/>
          </a:xfrm>
        </p:grpSpPr>
        <p:pic>
          <p:nvPicPr>
            <p:cNvPr id="3" name="Picture 6" descr="像素太空背景图片_像素太空背景素材图片_千库网">
              <a:extLst>
                <a:ext uri="{FF2B5EF4-FFF2-40B4-BE49-F238E27FC236}">
                  <a16:creationId xmlns:a16="http://schemas.microsoft.com/office/drawing/2014/main" id="{A3FC73DC-8B97-07CD-BEF9-761EC9A812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4" y="2558014"/>
              <a:ext cx="3612612" cy="2580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6" descr="像素太空背景图片_像素太空背景素材图片_千库网">
              <a:extLst>
                <a:ext uri="{FF2B5EF4-FFF2-40B4-BE49-F238E27FC236}">
                  <a16:creationId xmlns:a16="http://schemas.microsoft.com/office/drawing/2014/main" id="{6E1EE1E1-7FE3-F9AB-49DD-8009B188E8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493"/>
            <a:stretch>
              <a:fillRect/>
            </a:stretch>
          </p:blipFill>
          <p:spPr bwMode="auto">
            <a:xfrm>
              <a:off x="-24" y="703076"/>
              <a:ext cx="3612612" cy="187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96089880-9197-1BC0-0FDA-9098C24F8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607" y="3241125"/>
            <a:ext cx="1208691" cy="1459551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98CBF00E-7B47-5836-5197-D70E7847B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58003" flipH="1">
            <a:off x="721347" y="3056010"/>
            <a:ext cx="1902473" cy="1902473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08B1B6EF-FB20-D46C-2B33-2DDD2E8F98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9160" y="496005"/>
            <a:ext cx="756017" cy="398681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8E7BEC30-A7BE-8C28-BF32-7DEB9BE6D57C}"/>
              </a:ext>
            </a:extLst>
          </p:cNvPr>
          <p:cNvGrpSpPr/>
          <p:nvPr/>
        </p:nvGrpSpPr>
        <p:grpSpPr>
          <a:xfrm>
            <a:off x="2503718" y="3071214"/>
            <a:ext cx="1332467" cy="1799372"/>
            <a:chOff x="250564" y="1114148"/>
            <a:chExt cx="2988077" cy="3791561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090268B6-5E22-3DDF-CE4B-7868B549D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0564" y="1114148"/>
              <a:ext cx="2988077" cy="3608243"/>
            </a:xfrm>
            <a:prstGeom prst="rect">
              <a:avLst/>
            </a:prstGeom>
          </p:spPr>
        </p:pic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A8D7D8F4-4608-EC6C-9F46-547CCBC344FC}"/>
                </a:ext>
              </a:extLst>
            </p:cNvPr>
            <p:cNvGrpSpPr/>
            <p:nvPr/>
          </p:nvGrpSpPr>
          <p:grpSpPr>
            <a:xfrm>
              <a:off x="567840" y="1149551"/>
              <a:ext cx="2353523" cy="3756158"/>
              <a:chOff x="138224" y="-141149"/>
              <a:chExt cx="3079898" cy="4767096"/>
            </a:xfrm>
          </p:grpSpPr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1204CFE1-0BCE-9CD5-D16D-3181B8AD04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18977" t="28713" r="22152" b="23585"/>
              <a:stretch>
                <a:fillRect/>
              </a:stretch>
            </p:blipFill>
            <p:spPr>
              <a:xfrm>
                <a:off x="714021" y="2672889"/>
                <a:ext cx="1928302" cy="1953058"/>
              </a:xfrm>
              <a:prstGeom prst="rect">
                <a:avLst/>
              </a:prstGeom>
            </p:spPr>
          </p:pic>
          <p:pic>
            <p:nvPicPr>
              <p:cNvPr id="23" name="圖片 22">
                <a:extLst>
                  <a:ext uri="{FF2B5EF4-FFF2-40B4-BE49-F238E27FC236}">
                    <a16:creationId xmlns:a16="http://schemas.microsoft.com/office/drawing/2014/main" id="{116544C2-BBF0-71DB-3487-6C4C0D3218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b="20862"/>
              <a:stretch>
                <a:fillRect/>
              </a:stretch>
            </p:blipFill>
            <p:spPr>
              <a:xfrm>
                <a:off x="138224" y="-141149"/>
                <a:ext cx="3079898" cy="3046694"/>
              </a:xfrm>
              <a:prstGeom prst="rect">
                <a:avLst/>
              </a:prstGeom>
            </p:spPr>
          </p:pic>
        </p:grp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9611745F-2E8E-12B1-6DCC-7258FFFD45AF}"/>
              </a:ext>
            </a:extLst>
          </p:cNvPr>
          <p:cNvGrpSpPr/>
          <p:nvPr/>
        </p:nvGrpSpPr>
        <p:grpSpPr>
          <a:xfrm>
            <a:off x="-666234" y="3071214"/>
            <a:ext cx="1332467" cy="1799372"/>
            <a:chOff x="250564" y="1114148"/>
            <a:chExt cx="2988077" cy="3791561"/>
          </a:xfrm>
        </p:grpSpPr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59BF2514-2732-FDD6-6665-5FCE33E4E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0564" y="1114148"/>
              <a:ext cx="2988077" cy="3608243"/>
            </a:xfrm>
            <a:prstGeom prst="rect">
              <a:avLst/>
            </a:prstGeom>
          </p:spPr>
        </p:pic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913BA2C9-3AF4-EC1E-88DB-7EC3A7AC3BB8}"/>
                </a:ext>
              </a:extLst>
            </p:cNvPr>
            <p:cNvGrpSpPr/>
            <p:nvPr/>
          </p:nvGrpSpPr>
          <p:grpSpPr>
            <a:xfrm>
              <a:off x="567840" y="1149551"/>
              <a:ext cx="2353523" cy="3756158"/>
              <a:chOff x="138224" y="-141149"/>
              <a:chExt cx="3079898" cy="4767096"/>
            </a:xfrm>
          </p:grpSpPr>
          <p:pic>
            <p:nvPicPr>
              <p:cNvPr id="27" name="圖片 26">
                <a:extLst>
                  <a:ext uri="{FF2B5EF4-FFF2-40B4-BE49-F238E27FC236}">
                    <a16:creationId xmlns:a16="http://schemas.microsoft.com/office/drawing/2014/main" id="{756FD695-7ACF-4383-9AC2-E6766B6377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18977" t="28713" r="22152" b="23585"/>
              <a:stretch>
                <a:fillRect/>
              </a:stretch>
            </p:blipFill>
            <p:spPr>
              <a:xfrm>
                <a:off x="714021" y="2672889"/>
                <a:ext cx="1928302" cy="1953058"/>
              </a:xfrm>
              <a:prstGeom prst="rect">
                <a:avLst/>
              </a:prstGeom>
            </p:spPr>
          </p:pic>
          <p:pic>
            <p:nvPicPr>
              <p:cNvPr id="28" name="圖片 27">
                <a:extLst>
                  <a:ext uri="{FF2B5EF4-FFF2-40B4-BE49-F238E27FC236}">
                    <a16:creationId xmlns:a16="http://schemas.microsoft.com/office/drawing/2014/main" id="{B5DE8991-8FC1-5BAC-ADA0-B29A19C099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b="20862"/>
              <a:stretch>
                <a:fillRect/>
              </a:stretch>
            </p:blipFill>
            <p:spPr>
              <a:xfrm>
                <a:off x="138224" y="-141149"/>
                <a:ext cx="3079898" cy="3046694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29D7DC9C-564B-7BDF-8E05-4006A4913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>
            <a:extLst>
              <a:ext uri="{FF2B5EF4-FFF2-40B4-BE49-F238E27FC236}">
                <a16:creationId xmlns:a16="http://schemas.microsoft.com/office/drawing/2014/main" id="{FB75EC08-47DD-6AAA-185B-5241E5F133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6790980"/>
              </p:ext>
            </p:extLst>
          </p:nvPr>
        </p:nvGraphicFramePr>
        <p:xfrm>
          <a:off x="3614775" y="0"/>
          <a:ext cx="5529225" cy="551579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外太空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星星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元素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身穿太空服全套的店長貓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太空衣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收集冊服裝；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bo_7)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太空帽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收集冊服裝；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he_7)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背後如果看得到加上火箭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收集冊服裝；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ba_3)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水星、金星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右上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視角／鏡位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動態說明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文案/ 對白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平視／中景</a:t>
                      </a:r>
                      <a:endParaRPr sz="80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店長貓從畫面左側飄著走到右側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約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步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lang="zh-TW" alt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1-2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音樂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7" name="Google Shape;77;p17">
            <a:extLst>
              <a:ext uri="{FF2B5EF4-FFF2-40B4-BE49-F238E27FC236}">
                <a16:creationId xmlns:a16="http://schemas.microsoft.com/office/drawing/2014/main" id="{E1E530D6-0344-4231-83AF-B8088DB1040B}"/>
              </a:ext>
            </a:extLst>
          </p:cNvPr>
          <p:cNvGraphicFramePr/>
          <p:nvPr/>
        </p:nvGraphicFramePr>
        <p:xfrm>
          <a:off x="-12" y="335238"/>
          <a:ext cx="3614775" cy="4808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88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37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" name="Google Shape;78;p17">
            <a:extLst>
              <a:ext uri="{FF2B5EF4-FFF2-40B4-BE49-F238E27FC236}">
                <a16:creationId xmlns:a16="http://schemas.microsoft.com/office/drawing/2014/main" id="{EE678894-D881-EBCF-1431-F3A0CC1101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4206501"/>
              </p:ext>
            </p:extLst>
          </p:nvPr>
        </p:nvGraphicFramePr>
        <p:xfrm>
          <a:off x="0" y="0"/>
          <a:ext cx="3614775" cy="335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47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1-2</a:t>
                      </a:r>
                      <a:r>
                        <a:rPr lang="zh-TW" altLang="en-US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群組 1">
            <a:extLst>
              <a:ext uri="{FF2B5EF4-FFF2-40B4-BE49-F238E27FC236}">
                <a16:creationId xmlns:a16="http://schemas.microsoft.com/office/drawing/2014/main" id="{E4A18ACB-5405-0EED-3352-258428A209E6}"/>
              </a:ext>
            </a:extLst>
          </p:cNvPr>
          <p:cNvGrpSpPr/>
          <p:nvPr/>
        </p:nvGrpSpPr>
        <p:grpSpPr>
          <a:xfrm>
            <a:off x="2151" y="442824"/>
            <a:ext cx="3612612" cy="4435375"/>
            <a:chOff x="-24" y="703076"/>
            <a:chExt cx="3612612" cy="4435375"/>
          </a:xfrm>
        </p:grpSpPr>
        <p:pic>
          <p:nvPicPr>
            <p:cNvPr id="3" name="Picture 6" descr="像素太空背景图片_像素太空背景素材图片_千库网">
              <a:extLst>
                <a:ext uri="{FF2B5EF4-FFF2-40B4-BE49-F238E27FC236}">
                  <a16:creationId xmlns:a16="http://schemas.microsoft.com/office/drawing/2014/main" id="{B3F4B20A-5207-A37C-C3E7-6C6B834C49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4" y="2558014"/>
              <a:ext cx="3612612" cy="2580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6" descr="像素太空背景图片_像素太空背景素材图片_千库网">
              <a:extLst>
                <a:ext uri="{FF2B5EF4-FFF2-40B4-BE49-F238E27FC236}">
                  <a16:creationId xmlns:a16="http://schemas.microsoft.com/office/drawing/2014/main" id="{02A5F4E9-228B-5279-7738-78CAB5E6B2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493"/>
            <a:stretch>
              <a:fillRect/>
            </a:stretch>
          </p:blipFill>
          <p:spPr bwMode="auto">
            <a:xfrm>
              <a:off x="-24" y="703076"/>
              <a:ext cx="3612612" cy="187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圖片 16">
            <a:extLst>
              <a:ext uri="{FF2B5EF4-FFF2-40B4-BE49-F238E27FC236}">
                <a16:creationId xmlns:a16="http://schemas.microsoft.com/office/drawing/2014/main" id="{9E8A0ED4-56B3-0E90-BA2D-678920539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41997">
            <a:off x="1087107" y="3127249"/>
            <a:ext cx="1902473" cy="1902473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CDEB98B-7D2C-51F5-5978-3CD9893D3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9160" y="496005"/>
            <a:ext cx="756017" cy="398681"/>
          </a:xfrm>
          <a:prstGeom prst="rect">
            <a:avLst/>
          </a:prstGeom>
        </p:spPr>
      </p:pic>
      <p:grpSp>
        <p:nvGrpSpPr>
          <p:cNvPr id="23" name="群組 22">
            <a:extLst>
              <a:ext uri="{FF2B5EF4-FFF2-40B4-BE49-F238E27FC236}">
                <a16:creationId xmlns:a16="http://schemas.microsoft.com/office/drawing/2014/main" id="{6A83165C-1767-D19E-0CB8-33001C99C499}"/>
              </a:ext>
            </a:extLst>
          </p:cNvPr>
          <p:cNvGrpSpPr/>
          <p:nvPr/>
        </p:nvGrpSpPr>
        <p:grpSpPr>
          <a:xfrm flipH="1">
            <a:off x="-129438" y="3008890"/>
            <a:ext cx="1332467" cy="1799372"/>
            <a:chOff x="250564" y="1114148"/>
            <a:chExt cx="2988077" cy="3791561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77D3EC0B-C8EC-75F9-47A9-2603B03E9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0564" y="1114148"/>
              <a:ext cx="2988077" cy="3608243"/>
            </a:xfrm>
            <a:prstGeom prst="rect">
              <a:avLst/>
            </a:prstGeom>
          </p:spPr>
        </p:pic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5BD456EA-FBCA-9F4D-8F16-AD8347B601E1}"/>
                </a:ext>
              </a:extLst>
            </p:cNvPr>
            <p:cNvGrpSpPr/>
            <p:nvPr/>
          </p:nvGrpSpPr>
          <p:grpSpPr>
            <a:xfrm>
              <a:off x="567840" y="1149551"/>
              <a:ext cx="2353523" cy="3756158"/>
              <a:chOff x="138224" y="-141149"/>
              <a:chExt cx="3079898" cy="4767096"/>
            </a:xfrm>
          </p:grpSpPr>
          <p:pic>
            <p:nvPicPr>
              <p:cNvPr id="21" name="圖片 20">
                <a:extLst>
                  <a:ext uri="{FF2B5EF4-FFF2-40B4-BE49-F238E27FC236}">
                    <a16:creationId xmlns:a16="http://schemas.microsoft.com/office/drawing/2014/main" id="{04401A06-8BE2-E65C-D135-F0BEA8B41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18977" t="28713" r="22152" b="23585"/>
              <a:stretch>
                <a:fillRect/>
              </a:stretch>
            </p:blipFill>
            <p:spPr>
              <a:xfrm>
                <a:off x="714021" y="2672889"/>
                <a:ext cx="1928302" cy="1953058"/>
              </a:xfrm>
              <a:prstGeom prst="rect">
                <a:avLst/>
              </a:prstGeom>
            </p:spPr>
          </p:pic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2946E63E-5054-B018-9DBE-D76BBA3E0F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b="20862"/>
              <a:stretch>
                <a:fillRect/>
              </a:stretch>
            </p:blipFill>
            <p:spPr>
              <a:xfrm>
                <a:off x="138224" y="-141149"/>
                <a:ext cx="3079898" cy="3046694"/>
              </a:xfrm>
              <a:prstGeom prst="rect">
                <a:avLst/>
              </a:prstGeom>
            </p:spPr>
          </p:pic>
        </p:grp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89ACC9D5-AE08-2678-4D2B-46943262DA8A}"/>
              </a:ext>
            </a:extLst>
          </p:cNvPr>
          <p:cNvGrpSpPr/>
          <p:nvPr/>
        </p:nvGrpSpPr>
        <p:grpSpPr>
          <a:xfrm flipH="1">
            <a:off x="2985279" y="3152510"/>
            <a:ext cx="1332467" cy="1799372"/>
            <a:chOff x="250564" y="1114148"/>
            <a:chExt cx="2988077" cy="3791561"/>
          </a:xfrm>
        </p:grpSpPr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E49C954E-2419-AF00-BBC4-AFB419C7C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0564" y="1114148"/>
              <a:ext cx="2988077" cy="3608243"/>
            </a:xfrm>
            <a:prstGeom prst="rect">
              <a:avLst/>
            </a:prstGeom>
          </p:spPr>
        </p:pic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FF7DEC6E-EE42-82EF-8842-29C92235C8E2}"/>
                </a:ext>
              </a:extLst>
            </p:cNvPr>
            <p:cNvGrpSpPr/>
            <p:nvPr/>
          </p:nvGrpSpPr>
          <p:grpSpPr>
            <a:xfrm>
              <a:off x="567840" y="1149551"/>
              <a:ext cx="2353523" cy="3756158"/>
              <a:chOff x="138224" y="-141149"/>
              <a:chExt cx="3079898" cy="4767096"/>
            </a:xfrm>
          </p:grpSpPr>
          <p:pic>
            <p:nvPicPr>
              <p:cNvPr id="27" name="圖片 26">
                <a:extLst>
                  <a:ext uri="{FF2B5EF4-FFF2-40B4-BE49-F238E27FC236}">
                    <a16:creationId xmlns:a16="http://schemas.microsoft.com/office/drawing/2014/main" id="{AF6CB7DD-77BE-8882-4987-4D3D5AA7B4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18977" t="28713" r="22152" b="23585"/>
              <a:stretch>
                <a:fillRect/>
              </a:stretch>
            </p:blipFill>
            <p:spPr>
              <a:xfrm>
                <a:off x="714021" y="2672889"/>
                <a:ext cx="1928302" cy="1953058"/>
              </a:xfrm>
              <a:prstGeom prst="rect">
                <a:avLst/>
              </a:prstGeom>
            </p:spPr>
          </p:pic>
          <p:pic>
            <p:nvPicPr>
              <p:cNvPr id="28" name="圖片 27">
                <a:extLst>
                  <a:ext uri="{FF2B5EF4-FFF2-40B4-BE49-F238E27FC236}">
                    <a16:creationId xmlns:a16="http://schemas.microsoft.com/office/drawing/2014/main" id="{684189C1-365A-BC20-4058-F6DD5672E0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b="20862"/>
              <a:stretch>
                <a:fillRect/>
              </a:stretch>
            </p:blipFill>
            <p:spPr>
              <a:xfrm>
                <a:off x="138224" y="-141149"/>
                <a:ext cx="3079898" cy="304669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90106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DD52365A-5E44-9C82-1100-A638F2C2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>
            <a:extLst>
              <a:ext uri="{FF2B5EF4-FFF2-40B4-BE49-F238E27FC236}">
                <a16:creationId xmlns:a16="http://schemas.microsoft.com/office/drawing/2014/main" id="{76D889E1-4561-3C41-7528-C148561903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5002854"/>
              </p:ext>
            </p:extLst>
          </p:nvPr>
        </p:nvGraphicFramePr>
        <p:xfrm>
          <a:off x="3614775" y="0"/>
          <a:ext cx="5529225" cy="520873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外太空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星星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月球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元素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身穿太空服全套的店長貓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太空衣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收集冊服裝；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bo_7)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太空帽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收集冊服裝；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he_7)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背後如果看得到加上火箭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收集冊服裝；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ba_3)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* 面向前方、腳踩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* 手指像林肯海報這樣指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兩三顆星球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流星滑過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右上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尼的一小讚，是貓咖的一大站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!</a:t>
                      </a:r>
                      <a:endParaRPr lang="zh-TW" alt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字體被氣泡包起來的感覺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圓體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lang="zh-TW" altLang="en-US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視角／鏡位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動態說明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文案/ 對白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平視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店長貓從後方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遠端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飄著走近，看前方、伸出手指，並說「尼的一小讚，是貓咖的一大站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!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」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尼的一小讚，是貓咖的一大站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音樂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7" name="Google Shape;77;p17">
            <a:extLst>
              <a:ext uri="{FF2B5EF4-FFF2-40B4-BE49-F238E27FC236}">
                <a16:creationId xmlns:a16="http://schemas.microsoft.com/office/drawing/2014/main" id="{83344027-90FB-8B95-4F80-CCB0262E1409}"/>
              </a:ext>
            </a:extLst>
          </p:cNvPr>
          <p:cNvGraphicFramePr/>
          <p:nvPr/>
        </p:nvGraphicFramePr>
        <p:xfrm>
          <a:off x="-12" y="335238"/>
          <a:ext cx="3614775" cy="4808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88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37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" name="Google Shape;78;p17">
            <a:extLst>
              <a:ext uri="{FF2B5EF4-FFF2-40B4-BE49-F238E27FC236}">
                <a16:creationId xmlns:a16="http://schemas.microsoft.com/office/drawing/2014/main" id="{3EDAE268-BFB5-2A94-46F5-AD210CBA75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5466349"/>
              </p:ext>
            </p:extLst>
          </p:nvPr>
        </p:nvGraphicFramePr>
        <p:xfrm>
          <a:off x="0" y="0"/>
          <a:ext cx="3614775" cy="3352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47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分鏡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秒數</a:t>
                      </a:r>
                      <a:endParaRPr sz="1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</a:t>
                      </a:r>
                      <a:endParaRPr sz="10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群組 1">
            <a:extLst>
              <a:ext uri="{FF2B5EF4-FFF2-40B4-BE49-F238E27FC236}">
                <a16:creationId xmlns:a16="http://schemas.microsoft.com/office/drawing/2014/main" id="{554F17D1-CA2A-66E6-95C6-52F182E35C6D}"/>
              </a:ext>
            </a:extLst>
          </p:cNvPr>
          <p:cNvGrpSpPr/>
          <p:nvPr/>
        </p:nvGrpSpPr>
        <p:grpSpPr>
          <a:xfrm>
            <a:off x="2151" y="442824"/>
            <a:ext cx="3612612" cy="4435375"/>
            <a:chOff x="-24" y="703076"/>
            <a:chExt cx="3612612" cy="4435375"/>
          </a:xfrm>
        </p:grpSpPr>
        <p:pic>
          <p:nvPicPr>
            <p:cNvPr id="3" name="Picture 6" descr="像素太空背景图片_像素太空背景素材图片_千库网">
              <a:extLst>
                <a:ext uri="{FF2B5EF4-FFF2-40B4-BE49-F238E27FC236}">
                  <a16:creationId xmlns:a16="http://schemas.microsoft.com/office/drawing/2014/main" id="{3A0AC7BC-09A7-B82D-271F-C3AA2C1267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4" y="2558014"/>
              <a:ext cx="3612612" cy="2580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6" descr="像素太空背景图片_像素太空背景素材图片_千库网">
              <a:extLst>
                <a:ext uri="{FF2B5EF4-FFF2-40B4-BE49-F238E27FC236}">
                  <a16:creationId xmlns:a16="http://schemas.microsoft.com/office/drawing/2014/main" id="{B69F867C-91F5-D5A4-D521-20A6D28CAA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493"/>
            <a:stretch>
              <a:fillRect/>
            </a:stretch>
          </p:blipFill>
          <p:spPr bwMode="auto">
            <a:xfrm>
              <a:off x="-24" y="703076"/>
              <a:ext cx="3612612" cy="187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2" name="Picture 4" descr="你图我酷-卡通夜晚天空划过的流星">
            <a:extLst>
              <a:ext uri="{FF2B5EF4-FFF2-40B4-BE49-F238E27FC236}">
                <a16:creationId xmlns:a16="http://schemas.microsoft.com/office/drawing/2014/main" id="{998AA9F0-79DF-4797-C34E-BDF874B35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89" y="548184"/>
            <a:ext cx="3071949" cy="220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B29EE64-4B63-08EB-BAEA-01428111C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9160" y="496005"/>
            <a:ext cx="756017" cy="398681"/>
          </a:xfrm>
          <a:prstGeom prst="rect">
            <a:avLst/>
          </a:prstGeom>
        </p:spPr>
      </p:pic>
      <p:pic>
        <p:nvPicPr>
          <p:cNvPr id="15" name="Picture 2" descr="I Want You海報的概念不是原創的？ – 每日一冷">
            <a:extLst>
              <a:ext uri="{FF2B5EF4-FFF2-40B4-BE49-F238E27FC236}">
                <a16:creationId xmlns:a16="http://schemas.microsoft.com/office/drawing/2014/main" id="{FE7CF5F2-72D0-9643-591F-CF9CBD698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112" y="477567"/>
            <a:ext cx="1287194" cy="180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134B5B92-FDF7-C210-6E38-420068B0AA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564" y="1114148"/>
            <a:ext cx="2988077" cy="3608243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9A4287B5-9AAB-0D39-E5E0-139DDD3ED9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7480" y="2749624"/>
            <a:ext cx="1813883" cy="2267354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7F1F35F6-49FF-F218-8052-4B175B065031}"/>
              </a:ext>
            </a:extLst>
          </p:cNvPr>
          <p:cNvGrpSpPr/>
          <p:nvPr/>
        </p:nvGrpSpPr>
        <p:grpSpPr>
          <a:xfrm>
            <a:off x="567840" y="1177060"/>
            <a:ext cx="2353523" cy="3756158"/>
            <a:chOff x="138224" y="-141149"/>
            <a:chExt cx="3079898" cy="4767096"/>
          </a:xfrm>
        </p:grpSpPr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78BB777A-CB3F-68FF-FCE6-D823CEE4D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18977" t="28713" r="22152" b="23585"/>
            <a:stretch>
              <a:fillRect/>
            </a:stretch>
          </p:blipFill>
          <p:spPr>
            <a:xfrm>
              <a:off x="714021" y="2672889"/>
              <a:ext cx="1928302" cy="1953058"/>
            </a:xfrm>
            <a:prstGeom prst="rect">
              <a:avLst/>
            </a:prstGeom>
          </p:spPr>
        </p:pic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450A1413-1AE9-99E8-6169-E713107AD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20862"/>
            <a:stretch>
              <a:fillRect/>
            </a:stretch>
          </p:blipFill>
          <p:spPr>
            <a:xfrm>
              <a:off x="138224" y="-141149"/>
              <a:ext cx="3079898" cy="3046694"/>
            </a:xfrm>
            <a:prstGeom prst="rect">
              <a:avLst/>
            </a:prstGeom>
          </p:spPr>
        </p:pic>
      </p:grp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062C453-A45E-8EB3-55CF-40D129DE42F3}"/>
              </a:ext>
            </a:extLst>
          </p:cNvPr>
          <p:cNvSpPr txBox="1"/>
          <p:nvPr/>
        </p:nvSpPr>
        <p:spPr>
          <a:xfrm>
            <a:off x="-513781" y="1345313"/>
            <a:ext cx="46423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尼的一小讚，</a:t>
            </a:r>
            <a:endParaRPr lang="en-US" altLang="zh-TW" b="1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是貓咖的一大站</a:t>
            </a:r>
            <a:r>
              <a:rPr lang="en-US" altLang="zh-TW" b="1" dirty="0">
                <a:solidFill>
                  <a:schemeClr val="tx1"/>
                </a:solidFill>
                <a:highlight>
                  <a:srgbClr val="FFFF00"/>
                </a:highlight>
              </a:rPr>
              <a:t>!!</a:t>
            </a:r>
            <a:endParaRPr lang="zh-TW" altLang="en-US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49684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9"/>
          <p:cNvGraphicFramePr/>
          <p:nvPr/>
        </p:nvGraphicFramePr>
        <p:xfrm>
          <a:off x="0" y="-8287"/>
          <a:ext cx="9144000" cy="5143450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10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6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素材規範</a:t>
                      </a:r>
                      <a:endParaRPr sz="2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統一適用後續每支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廣告素材（商店頁不適用）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，並將不在腳本中特別註明</a:t>
                      </a:r>
                      <a:endParaRPr sz="8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規格/ 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00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尺寸安全框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重點訊息</a:t>
                      </a: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請優先放置於安全區內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78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畫面左上置頂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依素材內容套用，若背景太花logo不明顯，加背景相近色的色塊底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分級標誌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右下置底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適用台灣遊戲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警語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下方置底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最小化字級，分行最多不超過兩行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 (1)文字與背景相近色、(2)文字與文案相近字型、(3)可不加色塊底/ 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台灣：這不是一款賭博遊戲，且無任何方式可以贏得金錢獎勵或具有金錢價值的獎品。嚴禁賭博。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印尼：Game ini tidak menyediakan aktivitas perjudian apa pun, chips dalam game tidak dapat ditukar dengan uang tunai atau barang nyata lainnya.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適用印尼及中文德撲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l="29687" t="12599" r="3703" b="17012"/>
          <a:stretch/>
        </p:blipFill>
        <p:spPr>
          <a:xfrm>
            <a:off x="2436075" y="1327125"/>
            <a:ext cx="1676449" cy="17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675" y="1712000"/>
            <a:ext cx="2072491" cy="108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 rotWithShape="1">
          <a:blip r:embed="rId5">
            <a:alphaModFix/>
          </a:blip>
          <a:srcRect t="26714" b="13131"/>
          <a:stretch/>
        </p:blipFill>
        <p:spPr>
          <a:xfrm>
            <a:off x="6351325" y="1409024"/>
            <a:ext cx="2130050" cy="160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1116</Words>
  <Application>Microsoft Office PowerPoint</Application>
  <PresentationFormat>如螢幕大小 (16:9)</PresentationFormat>
  <Paragraphs>193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0" baseType="lpstr">
      <vt:lpstr>Microsoft JhengHei</vt:lpstr>
      <vt:lpstr>Arial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</dc:creator>
  <cp:lastModifiedBy>柴怡辰 jhuo.chai</cp:lastModifiedBy>
  <cp:revision>10</cp:revision>
  <dcterms:modified xsi:type="dcterms:W3CDTF">2026-04-29T02:42:15Z</dcterms:modified>
</cp:coreProperties>
</file>