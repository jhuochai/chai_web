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2"/>
  </p:notesMasterIdLst>
  <p:sldIdLst>
    <p:sldId id="256" r:id="rId5"/>
    <p:sldId id="257" r:id="rId6"/>
    <p:sldId id="263" r:id="rId7"/>
    <p:sldId id="264" r:id="rId8"/>
    <p:sldId id="265" r:id="rId9"/>
    <p:sldId id="266" r:id="rId10"/>
    <p:sldId id="262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A5ECB-2C6B-447D-8769-ACE7B0628E62}" v="27" dt="2026-06-09T06:41:27.824"/>
  </p1510:revLst>
</p1510:revInfo>
</file>

<file path=ppt/tableStyles.xml><?xml version="1.0" encoding="utf-8"?>
<a:tblStyleLst xmlns:a="http://schemas.openxmlformats.org/drawingml/2006/main" def="{D27BCB22-5DEB-4D4A-AEB1-C0894EA97893}">
  <a:tblStyle styleId="{D27BCB22-5DEB-4D4A-AEB1-C0894EA97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827450-85E5-4037-9B08-230FE2B864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2" autoAdjust="0"/>
  </p:normalViewPr>
  <p:slideViewPr>
    <p:cSldViewPr snapToGrid="0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ce70d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ce70d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67f4b9b1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f67f4b9b1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280F069F-71B2-49C5-C8C4-D5C5890F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>
            <a:extLst>
              <a:ext uri="{FF2B5EF4-FFF2-40B4-BE49-F238E27FC236}">
                <a16:creationId xmlns:a16="http://schemas.microsoft.com/office/drawing/2014/main" id="{935FD5B6-BF3F-42CC-146F-637EA4D43F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>
            <a:extLst>
              <a:ext uri="{FF2B5EF4-FFF2-40B4-BE49-F238E27FC236}">
                <a16:creationId xmlns:a16="http://schemas.microsoft.com/office/drawing/2014/main" id="{5ACDCDA6-0CED-3BBB-FB44-58041C94F3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829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F6A3268A-CE50-EAD8-B42C-89F8CCFB6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>
            <a:extLst>
              <a:ext uri="{FF2B5EF4-FFF2-40B4-BE49-F238E27FC236}">
                <a16:creationId xmlns:a16="http://schemas.microsoft.com/office/drawing/2014/main" id="{982FB3B2-C438-DC7F-2F0D-093D270D2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>
            <a:extLst>
              <a:ext uri="{FF2B5EF4-FFF2-40B4-BE49-F238E27FC236}">
                <a16:creationId xmlns:a16="http://schemas.microsoft.com/office/drawing/2014/main" id="{6B05EF67-2193-FB65-BD09-757FCE944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1257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AEC42159-C6BB-D506-8AA6-F5F4F1F1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>
            <a:extLst>
              <a:ext uri="{FF2B5EF4-FFF2-40B4-BE49-F238E27FC236}">
                <a16:creationId xmlns:a16="http://schemas.microsoft.com/office/drawing/2014/main" id="{EC7CA95B-2025-77E5-CF1C-B8C47FFAE7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>
            <a:extLst>
              <a:ext uri="{FF2B5EF4-FFF2-40B4-BE49-F238E27FC236}">
                <a16:creationId xmlns:a16="http://schemas.microsoft.com/office/drawing/2014/main" id="{E59850A5-EBFE-C086-9C26-AC62C5FE36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7677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1B3C92B3-39D2-7819-F2EA-962735D81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>
            <a:extLst>
              <a:ext uri="{FF2B5EF4-FFF2-40B4-BE49-F238E27FC236}">
                <a16:creationId xmlns:a16="http://schemas.microsoft.com/office/drawing/2014/main" id="{4C85A16F-31E1-7456-CB7B-FFDFB0B442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>
            <a:extLst>
              <a:ext uri="{FF2B5EF4-FFF2-40B4-BE49-F238E27FC236}">
                <a16:creationId xmlns:a16="http://schemas.microsoft.com/office/drawing/2014/main" id="{33697DD1-2743-BC05-529C-A193E3B697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7315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ce70d4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ce70d4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jpeg"/><Relationship Id="rId7" Type="http://schemas.openxmlformats.org/officeDocument/2006/relationships/image" Target="../media/image17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4.png"/><Relationship Id="rId5" Type="http://schemas.openxmlformats.org/officeDocument/2006/relationships/image" Target="../media/image2.png"/><Relationship Id="rId10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4.png"/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2.png"/><Relationship Id="rId5" Type="http://schemas.openxmlformats.org/officeDocument/2006/relationships/image" Target="../media/image2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6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3575882675"/>
              </p:ext>
            </p:extLst>
          </p:nvPr>
        </p:nvGraphicFramePr>
        <p:xfrm>
          <a:off x="360000" y="182550"/>
          <a:ext cx="8280050" cy="29106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素材名稱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：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20260609_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社群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服裝攻略篇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Gif廣宣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商店頁圖片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H5廣宣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互動廣宣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媒體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Google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Tiktok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IG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</a:t>
                      </a:r>
                      <a:endParaRPr sz="1200" b="1" dirty="0">
                        <a:solidFill>
                          <a:srgbClr val="CC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總支數</a:t>
                      </a:r>
                      <a:r>
                        <a:rPr lang="zh-TW" sz="7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(特殊規格說明)</a:t>
                      </a:r>
                      <a:endParaRPr sz="7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Times New Roman" panose="02020603050405020304" pitchFamily="18" charset="0"/>
                          <a:sym typeface="Microsoft JhengHei"/>
                        </a:rPr>
                        <a:t>1</a:t>
                      </a:r>
                      <a:endParaRPr sz="10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0000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最大秒數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2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全新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部分沿用舊素材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舊素材微調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relanguage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resize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影像特殊需求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-405700" y="182550"/>
          <a:ext cx="765700" cy="36573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3780378471"/>
              </p:ext>
            </p:extLst>
          </p:nvPr>
        </p:nvGraphicFramePr>
        <p:xfrm>
          <a:off x="359988" y="3229200"/>
          <a:ext cx="8280075" cy="17524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0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9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畫面風格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/>
                        <a:t>可愛療癒、不飽和色系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配樂風格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廣告TA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喜歡貓咪的用戶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廣告目的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引導用戶如何在遊戲升級服裝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廣告鉤子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服裝升級的相關資訊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918216881"/>
              </p:ext>
            </p:extLst>
          </p:nvPr>
        </p:nvGraphicFramePr>
        <p:xfrm>
          <a:off x="0" y="0"/>
          <a:ext cx="9143975" cy="5147875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3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8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素材尺寸 (需求標黃底, 紅字優先對稿)</a:t>
                      </a:r>
                      <a:endParaRPr sz="1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適用廣告/社群素材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Banner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、1080*1080、1200*628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Video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適用商店頁素材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Screenshot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橫：1920*1080 (AN)、2732*2048 (iOS iPAD)、2688*1242、2208*1242 (iOS手機)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直：1080*1920 (AN)、2048*2732 (iOS iPAD)、1242*2688、1242*2208 (iOS手機)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主題圖片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1024*500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Liveops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1080*1920、1920*1080、1080*1080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主題影片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1920*1080、1920*886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Icon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512*512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&lt;1MB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 (自填尺寸)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025D3541-CD3E-D9D6-8E3E-21F71E26A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8">
            <a:extLst>
              <a:ext uri="{FF2B5EF4-FFF2-40B4-BE49-F238E27FC236}">
                <a16:creationId xmlns:a16="http://schemas.microsoft.com/office/drawing/2014/main" id="{E914026E-EBBD-AB90-A9DC-2C14892B8E2D}"/>
              </a:ext>
            </a:extLst>
          </p:cNvPr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Google Shape;83;p18">
            <a:extLst>
              <a:ext uri="{FF2B5EF4-FFF2-40B4-BE49-F238E27FC236}">
                <a16:creationId xmlns:a16="http://schemas.microsoft.com/office/drawing/2014/main" id="{BD3FC24B-8D50-0DA1-263A-4832CBDF84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6440523"/>
              </p:ext>
            </p:extLst>
          </p:nvPr>
        </p:nvGraphicFramePr>
        <p:xfrm flipH="1">
          <a:off x="3614775" y="0"/>
          <a:ext cx="5529225" cy="5132114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8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1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明亮的換衣間 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請協助像素化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altLang="en-US" sz="800" b="1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服裝升級介紹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換衣間，後方掛著三件衣服、前方是貓咪</a:t>
                      </a:r>
                      <a:endParaRPr lang="en-US" altLang="zh-TW" sz="8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衣服上面顯示文字</a:t>
                      </a:r>
                      <a:endParaRPr lang="en-US" altLang="zh-TW" sz="8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34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元素</a:t>
                      </a:r>
                      <a:endParaRPr lang="en-US" altLang="zh-TW" sz="8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 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 co_4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穿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 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bo_41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正面思考模樣 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參考幼師貓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後方三件衣服，上面分別顯示「文字」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AutoNum type="arabicPeriod"/>
                      </a:pP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bo_144 【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如何升級 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AutoNum type="arabicPeriod"/>
                      </a:pP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bo_45 【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升級所需的碎片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AutoNum type="arabicPeriod"/>
                      </a:pP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bo_62 【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升級福利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AutoNum type="arabicPeriod"/>
                      </a:pPr>
                      <a:endParaRPr lang="en-US" altLang="zh-TW" sz="8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標題框框</a:t>
                      </a:r>
                      <a:endParaRPr lang="en-US" altLang="zh-TW" sz="8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與背景一致的風格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金屬框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/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或參考示意圖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b="1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文字</a:t>
                      </a:r>
                      <a:r>
                        <a:rPr lang="en-US" altLang="zh-TW" sz="800" b="1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:</a:t>
                      </a:r>
                      <a:r>
                        <a:rPr lang="zh-TW" altLang="en-US" sz="800" b="1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en-US" altLang="zh-TW" sz="800" b="1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【</a:t>
                      </a:r>
                      <a:r>
                        <a:rPr lang="zh-TW" altLang="en-US" sz="800" b="1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服裝升級介紹</a:t>
                      </a:r>
                      <a:r>
                        <a:rPr lang="en-US" altLang="zh-TW" sz="800" b="1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】</a:t>
                      </a:r>
                      <a:endParaRPr lang="en-US" altLang="zh-TW" sz="8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971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右下</a:t>
                      </a:r>
                      <a:endParaRPr lang="en-US" altLang="zh-TW" sz="8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7121A5B0-45D8-7BBD-E68F-807EBD835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83" y="555048"/>
            <a:ext cx="2902961" cy="387061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D63A5D8-7E76-6037-3195-10EF3B10C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67311" y="2309735"/>
            <a:ext cx="1680127" cy="2028832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9C8CAB71-A9FD-1533-0D3C-5D6E0357A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479964" y="4041977"/>
            <a:ext cx="727580" cy="38368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6E45F23-7BB6-9919-D374-60E4CBB52C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117445" y="3052195"/>
            <a:ext cx="1277235" cy="1596544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6338988A-8E0D-F3D4-9153-FF913C3874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2967" y="1857646"/>
            <a:ext cx="833994" cy="1042492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234C66C6-B2A1-192A-CE4D-3802550372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500" y="1756696"/>
            <a:ext cx="1047721" cy="1309651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88710098-DA59-4F48-B5DA-ED45C9B35DCE}"/>
              </a:ext>
            </a:extLst>
          </p:cNvPr>
          <p:cNvSpPr txBox="1"/>
          <p:nvPr/>
        </p:nvSpPr>
        <p:spPr>
          <a:xfrm>
            <a:off x="687831" y="1837469"/>
            <a:ext cx="730228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如何升級 </a:t>
            </a:r>
            <a:endParaRPr lang="zh-TW" altLang="en-US" sz="10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D747442-6DDB-6FD4-3A54-7585A9320A7C}"/>
              </a:ext>
            </a:extLst>
          </p:cNvPr>
          <p:cNvSpPr txBox="1"/>
          <p:nvPr/>
        </p:nvSpPr>
        <p:spPr>
          <a:xfrm>
            <a:off x="1512249" y="1837469"/>
            <a:ext cx="730228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升級碎片 </a:t>
            </a:r>
            <a:endParaRPr lang="zh-TW" altLang="en-US" sz="1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819FF6C-56C1-10F5-2C4D-4A62BE0BF07D}"/>
              </a:ext>
            </a:extLst>
          </p:cNvPr>
          <p:cNvSpPr txBox="1"/>
          <p:nvPr/>
        </p:nvSpPr>
        <p:spPr>
          <a:xfrm>
            <a:off x="2322025" y="1837469"/>
            <a:ext cx="730228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sz="1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升級獎勵</a:t>
            </a:r>
            <a:endParaRPr lang="zh-TW" altLang="en-US" sz="1000" dirty="0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B4E1FE7F-7170-95BD-DAE5-587693D489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777" y="1841664"/>
            <a:ext cx="914400" cy="1143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9DDAC4E-536D-911C-B369-EEBF9CEA9D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1751" y="1864361"/>
            <a:ext cx="1348472" cy="159818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C6EABAE-7C13-5005-E62C-6C2210CA39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616" y="555047"/>
            <a:ext cx="2766814" cy="975604"/>
          </a:xfrm>
          <a:prstGeom prst="rect">
            <a:avLst/>
          </a:prstGeom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4DAB1C9D-2CE6-725D-9B6A-B27F93BB3F54}"/>
              </a:ext>
            </a:extLst>
          </p:cNvPr>
          <p:cNvSpPr txBox="1"/>
          <p:nvPr/>
        </p:nvSpPr>
        <p:spPr>
          <a:xfrm>
            <a:off x="1009172" y="923801"/>
            <a:ext cx="1470791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服裝升級介紹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2793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2C0BDCA4-04BB-9E16-B72D-ED0199725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8">
            <a:extLst>
              <a:ext uri="{FF2B5EF4-FFF2-40B4-BE49-F238E27FC236}">
                <a16:creationId xmlns:a16="http://schemas.microsoft.com/office/drawing/2014/main" id="{D7FF45BD-9415-72AE-829A-91542AC843B4}"/>
              </a:ext>
            </a:extLst>
          </p:cNvPr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Google Shape;83;p18">
            <a:extLst>
              <a:ext uri="{FF2B5EF4-FFF2-40B4-BE49-F238E27FC236}">
                <a16:creationId xmlns:a16="http://schemas.microsoft.com/office/drawing/2014/main" id="{621D5039-9E3D-BF17-347D-D8FD325DAF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9970456"/>
              </p:ext>
            </p:extLst>
          </p:nvPr>
        </p:nvGraphicFramePr>
        <p:xfrm flipH="1">
          <a:off x="3614775" y="1"/>
          <a:ext cx="5529225" cy="5143488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3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8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8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34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明亮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的換衣間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請協助像素化、虛化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請協助設計框框，或參考示意圖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圖片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元素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 co_4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穿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bo_144 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he_20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冒小花開心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參考畫家貓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右側圖片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請協助最新的配圖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AutoNum type="arabicPeriod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占卜抽衣服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AutoNum type="arabicPeriod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獲得碎片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AutoNum type="arabicPeriod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升級 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1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右下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如何升級衣服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B01765C6-B868-690C-6F55-FE9F19FB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83" y="555048"/>
            <a:ext cx="2902961" cy="387061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94F056C-3673-9035-55C1-83C2F0EEB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7248" y="2361254"/>
            <a:ext cx="1680127" cy="2028832"/>
          </a:xfrm>
          <a:prstGeom prst="rect">
            <a:avLst/>
          </a:prstGeom>
        </p:spPr>
      </p:pic>
      <p:sp>
        <p:nvSpPr>
          <p:cNvPr id="6" name="雙波浪 5">
            <a:extLst>
              <a:ext uri="{FF2B5EF4-FFF2-40B4-BE49-F238E27FC236}">
                <a16:creationId xmlns:a16="http://schemas.microsoft.com/office/drawing/2014/main" id="{A311B7D9-1DA2-BCD4-92AF-55FDD09B654F}"/>
              </a:ext>
            </a:extLst>
          </p:cNvPr>
          <p:cNvSpPr/>
          <p:nvPr/>
        </p:nvSpPr>
        <p:spPr>
          <a:xfrm>
            <a:off x="595745" y="785808"/>
            <a:ext cx="2265218" cy="584500"/>
          </a:xfrm>
          <a:prstGeom prst="doubleWav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如何升級衣服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0728083-4518-8618-330B-881FA6373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04571" y="3221571"/>
            <a:ext cx="1312649" cy="1640811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CB261A77-55FC-59A6-E22F-6B7DC2D23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4477" y="1449621"/>
            <a:ext cx="762283" cy="969104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C6679434-9193-B0BE-8FA7-44EF1B646C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5383" y="3398750"/>
            <a:ext cx="762283" cy="968305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745F4B73-0F7D-CC32-6226-30022649BB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1367" y="2213612"/>
            <a:ext cx="922266" cy="985059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7DEDF138-3BED-57AD-E07E-276E218D19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2479964" y="4041976"/>
            <a:ext cx="727580" cy="383684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BB8AABC0-DA02-4A2F-9EBA-2DFB4CE580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8443" y="2042047"/>
            <a:ext cx="1178309" cy="137112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400F5FF-2093-F13D-3517-8290BBA486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7634" y="896380"/>
            <a:ext cx="1738707" cy="76229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4FE61BE-7F21-BBBC-F953-89BC2DEA6A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152140" y="2339892"/>
            <a:ext cx="1570213" cy="196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44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39BFB93B-ECF5-6960-E55E-E6545312E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8">
            <a:extLst>
              <a:ext uri="{FF2B5EF4-FFF2-40B4-BE49-F238E27FC236}">
                <a16:creationId xmlns:a16="http://schemas.microsoft.com/office/drawing/2014/main" id="{E15C73D8-15C1-6A63-3068-C2F5193AA196}"/>
              </a:ext>
            </a:extLst>
          </p:cNvPr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79F40E1A-0A76-9C4E-EABF-CE43D09E7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83" y="555048"/>
            <a:ext cx="2902961" cy="387061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4FA77542-6671-833A-6DF2-D8F4EA876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711" y="1729336"/>
            <a:ext cx="1428159" cy="2361013"/>
          </a:xfrm>
          <a:prstGeom prst="rect">
            <a:avLst/>
          </a:prstGeom>
        </p:spPr>
      </p:pic>
      <p:graphicFrame>
        <p:nvGraphicFramePr>
          <p:cNvPr id="83" name="Google Shape;83;p18">
            <a:extLst>
              <a:ext uri="{FF2B5EF4-FFF2-40B4-BE49-F238E27FC236}">
                <a16:creationId xmlns:a16="http://schemas.microsoft.com/office/drawing/2014/main" id="{57B5DB98-C017-A584-5C7F-5DFF91A4B7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0547475"/>
              </p:ext>
            </p:extLst>
          </p:nvPr>
        </p:nvGraphicFramePr>
        <p:xfrm flipH="1">
          <a:off x="3614775" y="-1"/>
          <a:ext cx="5529225" cy="5143501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0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8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8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70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明亮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的換衣間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請協助像素化、虛化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0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請協助設計框框，或參考示意圖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金屬框框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57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元素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 co_4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穿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bo_45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he_35 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亮晶晶眼睛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參考上班貓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圖片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升級時的服裝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49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右下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升級所需碎片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落地鏡中文字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lvl="0"/>
                      <a:r>
                        <a:rPr lang="zh-TW" altLang="zh-TW" sz="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升到第幾級，</a:t>
                      </a:r>
                      <a:r>
                        <a:rPr lang="zh-TW" altLang="en-US" sz="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就需要</a:t>
                      </a:r>
                      <a:r>
                        <a:rPr lang="en-US" altLang="zh-TW" sz="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</a:t>
                      </a:r>
                      <a:r>
                        <a:rPr lang="zh-TW" altLang="en-US" sz="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endParaRPr lang="en-US" altLang="zh-TW" sz="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lvl="0"/>
                      <a:r>
                        <a:rPr lang="zh-TW" altLang="zh-TW" sz="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【等級 </a:t>
                      </a:r>
                      <a:r>
                        <a:rPr lang="en-US" altLang="zh-TW" sz="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  <a:r>
                        <a:rPr lang="zh-TW" altLang="zh-TW" sz="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10】張碎片。</a:t>
                      </a:r>
                      <a:endParaRPr lang="en-US" altLang="zh-TW" sz="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lvl="0"/>
                      <a:r>
                        <a:rPr lang="en-US" altLang="zh-TW" sz="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e.g. </a:t>
                      </a:r>
                      <a:r>
                        <a:rPr lang="zh-TW" altLang="en-US" sz="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升到</a:t>
                      </a:r>
                      <a:r>
                        <a:rPr lang="en-US" altLang="zh-TW" sz="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Lv.2</a:t>
                      </a:r>
                      <a:r>
                        <a:rPr lang="zh-TW" altLang="en-US" sz="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 需要 </a:t>
                      </a:r>
                      <a:r>
                        <a:rPr lang="en-US" altLang="zh-TW" sz="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【20】</a:t>
                      </a:r>
                      <a:r>
                        <a:rPr lang="zh-TW" altLang="en-US" sz="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碎片</a:t>
                      </a:r>
                      <a:endParaRPr lang="en-US" altLang="zh-TW" sz="6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對話框文字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“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也可以使用萬用碎片升級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!”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51830048-CA0E-9B58-D767-C61D2FB63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92618" y="2337201"/>
            <a:ext cx="1680127" cy="2028832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A2E812A2-CA99-250B-EDD1-E936A8333B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415594" y="3063983"/>
            <a:ext cx="1569104" cy="196138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C6D1C57-02AF-B841-2FA9-725A761E8F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0668" y="2107622"/>
            <a:ext cx="1373332" cy="1598059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36126823-9C87-7B8D-3469-AECD961139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479964" y="4041977"/>
            <a:ext cx="727580" cy="383684"/>
          </a:xfrm>
          <a:prstGeom prst="rect">
            <a:avLst/>
          </a:prstGeom>
        </p:spPr>
      </p:pic>
      <p:sp>
        <p:nvSpPr>
          <p:cNvPr id="6" name="雙波浪 5">
            <a:extLst>
              <a:ext uri="{FF2B5EF4-FFF2-40B4-BE49-F238E27FC236}">
                <a16:creationId xmlns:a16="http://schemas.microsoft.com/office/drawing/2014/main" id="{5FA595BB-959C-54E8-9B19-5809D7B4A413}"/>
              </a:ext>
            </a:extLst>
          </p:cNvPr>
          <p:cNvSpPr/>
          <p:nvPr/>
        </p:nvSpPr>
        <p:spPr>
          <a:xfrm>
            <a:off x="595745" y="785808"/>
            <a:ext cx="2265218" cy="584500"/>
          </a:xfrm>
          <a:prstGeom prst="doubleWav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升級所需碎片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7E5527E-AD69-F346-F6A4-90204DE857E2}"/>
              </a:ext>
            </a:extLst>
          </p:cNvPr>
          <p:cNvSpPr txBox="1"/>
          <p:nvPr/>
        </p:nvSpPr>
        <p:spPr>
          <a:xfrm>
            <a:off x="1951342" y="2335597"/>
            <a:ext cx="1057244" cy="984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TW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升到第幾級，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就需要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/>
            <a:r>
              <a:rPr lang="zh-TW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【等級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10】張碎片。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e.g. 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升到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Lv.2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 需要 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【20】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碎片</a:t>
            </a:r>
            <a:endParaRPr lang="en-US" altLang="zh-TW" sz="8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491B67E5-DA0C-4243-7D4C-5DA601E367B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r="61945" b="9572"/>
          <a:stretch>
            <a:fillRect/>
          </a:stretch>
        </p:blipFill>
        <p:spPr>
          <a:xfrm>
            <a:off x="1878154" y="3535851"/>
            <a:ext cx="326911" cy="297112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997A1DD6-C210-1C5E-DD84-78D5180064D6}"/>
              </a:ext>
            </a:extLst>
          </p:cNvPr>
          <p:cNvSpPr txBox="1"/>
          <p:nvPr/>
        </p:nvSpPr>
        <p:spPr>
          <a:xfrm>
            <a:off x="2288953" y="3498977"/>
            <a:ext cx="719018" cy="415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TW" sz="700" dirty="0">
                <a:latin typeface="Microsoft JhengHei"/>
                <a:ea typeface="Microsoft JhengHei"/>
                <a:cs typeface="Microsoft JhengHei"/>
                <a:sym typeface="Microsoft JhengHei"/>
              </a:rPr>
              <a:t>Tips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TW" altLang="en-US" sz="700" dirty="0">
                <a:latin typeface="Microsoft JhengHei"/>
                <a:ea typeface="Microsoft JhengHei"/>
                <a:cs typeface="Microsoft JhengHei"/>
                <a:sym typeface="Microsoft JhengHei"/>
              </a:rPr>
              <a:t>也</a:t>
            </a:r>
            <a:r>
              <a:rPr lang="zh-TW" altLang="en-US" sz="7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可以使用</a:t>
            </a:r>
            <a:endParaRPr lang="en-US" altLang="zh-TW" sz="7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TW" altLang="en-US" sz="7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萬用碎片升級</a:t>
            </a:r>
            <a:r>
              <a:rPr lang="en-US" altLang="zh-TW" sz="7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!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C5802C7-0237-F7AA-6510-71684EC86E3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0881" t="20993" r="11623" b="18561"/>
          <a:stretch>
            <a:fillRect/>
          </a:stretch>
        </p:blipFill>
        <p:spPr>
          <a:xfrm>
            <a:off x="775882" y="1729336"/>
            <a:ext cx="871420" cy="99133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4BB1F5E-4A12-BF61-0D99-D46C7D72EC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7847" y="1259205"/>
            <a:ext cx="1738707" cy="76229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DFEEC6E0-8629-FD7E-4361-BA133928CC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398836" y="2150823"/>
            <a:ext cx="1602620" cy="200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98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2B8781D3-D43E-8E03-09D4-D4599A02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8">
            <a:extLst>
              <a:ext uri="{FF2B5EF4-FFF2-40B4-BE49-F238E27FC236}">
                <a16:creationId xmlns:a16="http://schemas.microsoft.com/office/drawing/2014/main" id="{75096424-1880-9918-DAE9-47080CB36CCB}"/>
              </a:ext>
            </a:extLst>
          </p:cNvPr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Google Shape;83;p18">
            <a:extLst>
              <a:ext uri="{FF2B5EF4-FFF2-40B4-BE49-F238E27FC236}">
                <a16:creationId xmlns:a16="http://schemas.microsoft.com/office/drawing/2014/main" id="{2E577DE1-A5DE-4BF3-A330-2523226864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4560008"/>
              </p:ext>
            </p:extLst>
          </p:nvPr>
        </p:nvGraphicFramePr>
        <p:xfrm flipH="1">
          <a:off x="3614775" y="1"/>
          <a:ext cx="5529225" cy="5166095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3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8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8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86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明亮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的換衣間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請協助像素化、虛化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9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請協助設計框框，或參考示意圖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7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元素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 co_4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穿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bo_62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\he_37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面相前方、開心眼睛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參考學生妹貓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左框框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貓咪衣服管理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可多貓穿戴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顯示出不一樣的貓穿一樣的衣服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如示意圖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右框框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技能數值提升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e.g. 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結帳收益、打掃速度、移動速度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35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右下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6E940D91-ED9E-CEAF-2303-0C670BBE1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83" y="555048"/>
            <a:ext cx="2902961" cy="3870614"/>
          </a:xfrm>
          <a:prstGeom prst="rect">
            <a:avLst/>
          </a:prstGeom>
        </p:spPr>
      </p:pic>
      <p:sp>
        <p:nvSpPr>
          <p:cNvPr id="6" name="雙波浪 5">
            <a:extLst>
              <a:ext uri="{FF2B5EF4-FFF2-40B4-BE49-F238E27FC236}">
                <a16:creationId xmlns:a16="http://schemas.microsoft.com/office/drawing/2014/main" id="{05D237BA-B6FA-6E11-7508-BC65D1F69EC0}"/>
              </a:ext>
            </a:extLst>
          </p:cNvPr>
          <p:cNvSpPr/>
          <p:nvPr/>
        </p:nvSpPr>
        <p:spPr>
          <a:xfrm>
            <a:off x="595745" y="785808"/>
            <a:ext cx="2265218" cy="584500"/>
          </a:xfrm>
          <a:prstGeom prst="doubleWav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服裝升級的獎勵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C38EAF9-C0B0-DB88-4D7D-FA44545D2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723" y="2246629"/>
            <a:ext cx="1283277" cy="1493268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E0D265D7-B9D6-F4C4-B61F-BB3AE29AF7F6}"/>
              </a:ext>
            </a:extLst>
          </p:cNvPr>
          <p:cNvGrpSpPr/>
          <p:nvPr/>
        </p:nvGrpSpPr>
        <p:grpSpPr>
          <a:xfrm flipH="1">
            <a:off x="1888093" y="2571738"/>
            <a:ext cx="1390683" cy="2119578"/>
            <a:chOff x="888290" y="2326285"/>
            <a:chExt cx="1680127" cy="2518178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B7C3C7E-04EB-8B7F-821F-16E4F50C6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888290" y="2326285"/>
              <a:ext cx="1680127" cy="2028832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33186227-B2E3-67D9-0384-01D2B5361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39642" y="3122688"/>
              <a:ext cx="1377421" cy="1721775"/>
            </a:xfrm>
            <a:prstGeom prst="rect">
              <a:avLst/>
            </a:prstGeom>
          </p:spPr>
        </p:pic>
      </p:grpSp>
      <p:pic>
        <p:nvPicPr>
          <p:cNvPr id="8" name="圖片 7">
            <a:extLst>
              <a:ext uri="{FF2B5EF4-FFF2-40B4-BE49-F238E27FC236}">
                <a16:creationId xmlns:a16="http://schemas.microsoft.com/office/drawing/2014/main" id="{5D961D85-4F8F-5050-5ED8-6217E972EF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479964" y="4041977"/>
            <a:ext cx="727580" cy="38368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5DD429F-AC71-E801-250A-88CD3E90ED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0330" y="570083"/>
            <a:ext cx="1738707" cy="76229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03ADE211-0C91-EC48-F49F-108B926981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636" y="1488645"/>
            <a:ext cx="1835530" cy="139911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B3AA4846-7FBF-D2A2-94CB-E4785AF3AA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282" y="3033988"/>
            <a:ext cx="1561724" cy="1257638"/>
          </a:xfrm>
          <a:prstGeom prst="rect">
            <a:avLst/>
          </a:prstGeom>
        </p:spPr>
      </p:pic>
      <p:grpSp>
        <p:nvGrpSpPr>
          <p:cNvPr id="26" name="群組 25">
            <a:extLst>
              <a:ext uri="{FF2B5EF4-FFF2-40B4-BE49-F238E27FC236}">
                <a16:creationId xmlns:a16="http://schemas.microsoft.com/office/drawing/2014/main" id="{8B7299E3-FE3E-8BD6-D96A-066F666B13DA}"/>
              </a:ext>
            </a:extLst>
          </p:cNvPr>
          <p:cNvGrpSpPr/>
          <p:nvPr/>
        </p:nvGrpSpPr>
        <p:grpSpPr>
          <a:xfrm>
            <a:off x="514282" y="1842327"/>
            <a:ext cx="510935" cy="729411"/>
            <a:chOff x="5874562" y="2444471"/>
            <a:chExt cx="1009650" cy="1552612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FEFA5872-852A-1270-D1B5-9DA6413FA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74562" y="2444471"/>
              <a:ext cx="1009650" cy="1219200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B1C4E4C1-F730-C9D6-613B-C576D8ACD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922187" y="2854083"/>
              <a:ext cx="914400" cy="1143000"/>
            </a:xfrm>
            <a:prstGeom prst="rect">
              <a:avLst/>
            </a:prstGeom>
          </p:spPr>
        </p:pic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B270DB9D-68B2-B4DD-82C2-EAB3F44B102D}"/>
              </a:ext>
            </a:extLst>
          </p:cNvPr>
          <p:cNvGrpSpPr/>
          <p:nvPr/>
        </p:nvGrpSpPr>
        <p:grpSpPr>
          <a:xfrm>
            <a:off x="880754" y="1666768"/>
            <a:ext cx="583032" cy="923892"/>
            <a:chOff x="5317893" y="1647846"/>
            <a:chExt cx="1009650" cy="1483742"/>
          </a:xfrm>
        </p:grpSpPr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01BAF5C6-6E02-DD7A-1213-4A5E1B3F2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17893" y="1647846"/>
              <a:ext cx="1009650" cy="1219200"/>
            </a:xfrm>
            <a:prstGeom prst="rect">
              <a:avLst/>
            </a:prstGeom>
          </p:spPr>
        </p:pic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BA06DEEF-C3A9-4AE2-19A6-FCB5A6976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454056" y="2230440"/>
              <a:ext cx="720918" cy="901148"/>
            </a:xfrm>
            <a:prstGeom prst="rect">
              <a:avLst/>
            </a:prstGeom>
          </p:spPr>
        </p:pic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D890D523-3EC4-AE03-6529-85F5122CA662}"/>
              </a:ext>
            </a:extLst>
          </p:cNvPr>
          <p:cNvGrpSpPr/>
          <p:nvPr/>
        </p:nvGrpSpPr>
        <p:grpSpPr>
          <a:xfrm>
            <a:off x="1277989" y="1790492"/>
            <a:ext cx="548233" cy="849617"/>
            <a:chOff x="4807538" y="2128714"/>
            <a:chExt cx="1009650" cy="1515171"/>
          </a:xfrm>
        </p:grpSpPr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E899FC3D-F7B3-286B-02C8-1A9EDACD2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807538" y="2128714"/>
              <a:ext cx="1009650" cy="1219200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B2235C63-A487-C010-47EE-CB453FDA0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93452" y="2571738"/>
              <a:ext cx="857718" cy="1072147"/>
            </a:xfrm>
            <a:prstGeom prst="rect">
              <a:avLst/>
            </a:prstGeom>
          </p:spPr>
        </p:pic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74644485-ABE7-4245-C536-8DC833AB3AF9}"/>
              </a:ext>
            </a:extLst>
          </p:cNvPr>
          <p:cNvGrpSpPr/>
          <p:nvPr/>
        </p:nvGrpSpPr>
        <p:grpSpPr>
          <a:xfrm>
            <a:off x="1636674" y="1773110"/>
            <a:ext cx="601508" cy="861205"/>
            <a:chOff x="4644001" y="2447399"/>
            <a:chExt cx="1009650" cy="1489131"/>
          </a:xfrm>
        </p:grpSpPr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9D36CDA3-9BF9-A703-2075-50CB29AB2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44001" y="2447399"/>
              <a:ext cx="1009650" cy="1219200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AA088A52-D353-2800-72FE-C2715DB47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769711" y="2943602"/>
              <a:ext cx="794342" cy="992928"/>
            </a:xfrm>
            <a:prstGeom prst="rect">
              <a:avLst/>
            </a:prstGeom>
          </p:spPr>
        </p:pic>
      </p:grp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1C5E770E-5A0C-5BD6-88CB-99882B9DFCCC}"/>
              </a:ext>
            </a:extLst>
          </p:cNvPr>
          <p:cNvSpPr txBox="1"/>
          <p:nvPr/>
        </p:nvSpPr>
        <p:spPr>
          <a:xfrm>
            <a:off x="945783" y="3340944"/>
            <a:ext cx="786432" cy="1692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5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結帳收益</a:t>
            </a:r>
            <a:endParaRPr lang="zh-TW" altLang="en-US" sz="5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0F44F719-5ACE-AFBA-B8D5-EA330B65D308}"/>
              </a:ext>
            </a:extLst>
          </p:cNvPr>
          <p:cNvSpPr txBox="1"/>
          <p:nvPr/>
        </p:nvSpPr>
        <p:spPr>
          <a:xfrm>
            <a:off x="945783" y="3616466"/>
            <a:ext cx="786432" cy="1692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5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打掃素度</a:t>
            </a:r>
            <a:endParaRPr lang="zh-TW" altLang="en-US" sz="5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FE932BD8-4C21-F2EA-58CF-B1952E56419C}"/>
              </a:ext>
            </a:extLst>
          </p:cNvPr>
          <p:cNvSpPr txBox="1"/>
          <p:nvPr/>
        </p:nvSpPr>
        <p:spPr>
          <a:xfrm>
            <a:off x="934599" y="3882058"/>
            <a:ext cx="786432" cy="1692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5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結帳收益</a:t>
            </a:r>
            <a:endParaRPr lang="zh-TW" altLang="en-US" sz="500" dirty="0"/>
          </a:p>
        </p:txBody>
      </p:sp>
      <p:pic>
        <p:nvPicPr>
          <p:cNvPr id="49" name="圖片 48">
            <a:extLst>
              <a:ext uri="{FF2B5EF4-FFF2-40B4-BE49-F238E27FC236}">
                <a16:creationId xmlns:a16="http://schemas.microsoft.com/office/drawing/2014/main" id="{0115F19A-148D-65AC-4359-320560E7D72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1811" y="2400894"/>
            <a:ext cx="1377578" cy="172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74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9"/>
          <p:cNvGraphicFramePr/>
          <p:nvPr/>
        </p:nvGraphicFramePr>
        <p:xfrm>
          <a:off x="0" y="-8287"/>
          <a:ext cx="9144000" cy="514345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10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6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素材規範</a:t>
                      </a:r>
                      <a:endParaRPr sz="2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統一適用後續每支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廣告素材（商店頁不適用）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，並將不在腳本中特別註明</a:t>
                      </a:r>
                      <a:endParaRPr sz="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規格/ 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0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尺寸安全框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重點訊息</a:t>
                      </a: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請優先放置於安全區內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78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畫面左上置頂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依素材內容套用，若背景太花logo不明顯，加背景相近色的色塊底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分級標誌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右下置底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適用台灣遊戲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警語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下方置底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最小化字級，分行最多不超過兩行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 (1)文字與背景相近色、(2)文字與文案相近字型、(3)可不加色塊底/ 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台灣：這不是一款賭博遊戲，且無任何方式可以贏得金錢獎勵或具有金錢價值的獎品。嚴禁賭博。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印尼：Game ini tidak menyediakan aktivitas perjudian apa pun, chips dalam game tidak dapat ditukar dengan uang tunai atau barang nyata lainnya.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適用印尼及中文德撲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l="29687" t="12599" r="3703" b="17012"/>
          <a:stretch/>
        </p:blipFill>
        <p:spPr>
          <a:xfrm>
            <a:off x="2436075" y="1327125"/>
            <a:ext cx="1676449" cy="1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675" y="1712000"/>
            <a:ext cx="2072491" cy="108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5">
            <a:alphaModFix/>
          </a:blip>
          <a:srcRect t="26714" b="13131"/>
          <a:stretch/>
        </p:blipFill>
        <p:spPr>
          <a:xfrm>
            <a:off x="6351325" y="1409024"/>
            <a:ext cx="2130050" cy="16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2EC33025832F2419D4160699AC55E37" ma:contentTypeVersion="4" ma:contentTypeDescription="建立新的文件。" ma:contentTypeScope="" ma:versionID="eb69cd058034a44e24cd6e257e3b9d07">
  <xsd:schema xmlns:xsd="http://www.w3.org/2001/XMLSchema" xmlns:xs="http://www.w3.org/2001/XMLSchema" xmlns:p="http://schemas.microsoft.com/office/2006/metadata/properties" xmlns:ns3="63e047f4-576d-48c2-869d-915824b3beea" targetNamespace="http://schemas.microsoft.com/office/2006/metadata/properties" ma:root="true" ma:fieldsID="83fa7a675322c0d02c3cd4f3c7d51c14" ns3:_="">
    <xsd:import namespace="63e047f4-576d-48c2-869d-915824b3bee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e047f4-576d-48c2-869d-915824b3bee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5A0FE8-B256-4FD6-A6E1-FD0B591DD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e047f4-576d-48c2-869d-915824b3be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A86997-47F7-4206-B759-E7D535770B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D7EA88-DC9D-417C-8445-DB40B12EE62E}">
  <ds:schemaRefs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63e047f4-576d-48c2-869d-915824b3beea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2493</TotalTime>
  <Words>1244</Words>
  <Application>Microsoft Office PowerPoint</Application>
  <PresentationFormat>如螢幕大小 (16:9)</PresentationFormat>
  <Paragraphs>209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Microsoft JhengHei</vt:lpstr>
      <vt:lpstr>Microsoft JhengHei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</dc:creator>
  <cp:lastModifiedBy>柴怡辰 jhuo.chai</cp:lastModifiedBy>
  <cp:revision>23</cp:revision>
  <dcterms:modified xsi:type="dcterms:W3CDTF">2026-06-09T08:35:21Z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0x01010012EC33025832F2419D4160699AC55E37</vt:lpwstr>
  </property>
</Properties>
</file>