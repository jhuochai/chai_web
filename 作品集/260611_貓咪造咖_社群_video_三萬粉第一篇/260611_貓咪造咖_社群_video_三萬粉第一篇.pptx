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5" r:id="rId6"/>
    <p:sldId id="263" r:id="rId7"/>
    <p:sldId id="264" r:id="rId8"/>
    <p:sldId id="262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7BCB22-5DEB-4D4A-AEB1-C0894EA97893}">
  <a:tblStyle styleId="{D27BCB22-5DEB-4D4A-AEB1-C0894EA978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0827450-85E5-4037-9B08-230FE2B864A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58" autoAdjust="0"/>
    <p:restoredTop sz="96233" autoAdjust="0"/>
  </p:normalViewPr>
  <p:slideViewPr>
    <p:cSldViewPr snapToGrid="0">
      <p:cViewPr varScale="1">
        <p:scale>
          <a:sx n="146" d="100"/>
          <a:sy n="146" d="100"/>
        </p:scale>
        <p:origin x="10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3ce70d4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3ce70d4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f67f4b9b1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f67f4b9b1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f67f4b9b1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f67f4b9b1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f67f4b9b1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f67f4b9b1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ADFEB3A1-7C8B-E507-FE60-114E669AF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f67f4b9b1_5_0:notes">
            <a:extLst>
              <a:ext uri="{FF2B5EF4-FFF2-40B4-BE49-F238E27FC236}">
                <a16:creationId xmlns:a16="http://schemas.microsoft.com/office/drawing/2014/main" id="{ADA2FF99-6852-47EB-9C8A-FF6A34894C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f67f4b9b1_5_0:notes">
            <a:extLst>
              <a:ext uri="{FF2B5EF4-FFF2-40B4-BE49-F238E27FC236}">
                <a16:creationId xmlns:a16="http://schemas.microsoft.com/office/drawing/2014/main" id="{7CFDAD15-3A7A-AB18-9BA6-2344A4FDF4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043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C46B239A-63E8-DDD7-9E35-5B5440263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f67f4b9b1_5_0:notes">
            <a:extLst>
              <a:ext uri="{FF2B5EF4-FFF2-40B4-BE49-F238E27FC236}">
                <a16:creationId xmlns:a16="http://schemas.microsoft.com/office/drawing/2014/main" id="{2439F64A-CB43-BB57-86D5-DFDA0EDF62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f67f4b9b1_5_0:notes">
            <a:extLst>
              <a:ext uri="{FF2B5EF4-FFF2-40B4-BE49-F238E27FC236}">
                <a16:creationId xmlns:a16="http://schemas.microsoft.com/office/drawing/2014/main" id="{AA697433-4958-0E40-4AE3-D1B1AF30EC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4488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B04C9D7A-F514-10A8-08FB-45776F23C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f67f4b9b1_5_0:notes">
            <a:extLst>
              <a:ext uri="{FF2B5EF4-FFF2-40B4-BE49-F238E27FC236}">
                <a16:creationId xmlns:a16="http://schemas.microsoft.com/office/drawing/2014/main" id="{0F5A13EF-E528-B512-5D9B-B1EC14A177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f67f4b9b1_5_0:notes">
            <a:extLst>
              <a:ext uri="{FF2B5EF4-FFF2-40B4-BE49-F238E27FC236}">
                <a16:creationId xmlns:a16="http://schemas.microsoft.com/office/drawing/2014/main" id="{006D5C62-655D-9EE6-58E7-3AABB741C9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4992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3ce70d4e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3ce70d4e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59FoIJXeOg&amp;list=PLgpDlytwRiVOH72L5LpGbi4q4nnQ6jZ4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>
            <p:extLst>
              <p:ext uri="{D42A27DB-BD31-4B8C-83A1-F6EECF244321}">
                <p14:modId xmlns:p14="http://schemas.microsoft.com/office/powerpoint/2010/main" val="2806183672"/>
              </p:ext>
            </p:extLst>
          </p:nvPr>
        </p:nvGraphicFramePr>
        <p:xfrm>
          <a:off x="360000" y="182550"/>
          <a:ext cx="8280050" cy="286488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44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素材名稱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貓咪造咖</a:t>
                      </a: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：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260611_</a:t>
                      </a: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貓咪造咖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社群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_video_</a:t>
                      </a: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三萬粉第一篇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檔案格式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影片　　</a:t>
                      </a:r>
                      <a:r>
                        <a:rPr lang="zh-TW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靜態廣宣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商店頁圖片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H5廣宣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互動廣宣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其他：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媒體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FB　　</a:t>
                      </a:r>
                      <a:r>
                        <a:rPr lang="zh-TW" alt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Google　　</a:t>
                      </a:r>
                      <a:r>
                        <a:rPr lang="zh-TW" alt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Tiktok　　</a:t>
                      </a:r>
                      <a:r>
                        <a:rPr lang="zh-TW" alt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其他：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FB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IG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Threads</a:t>
                      </a:r>
                      <a:endParaRPr sz="1200" b="1" dirty="0">
                        <a:solidFill>
                          <a:srgbClr val="CC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總支數</a:t>
                      </a:r>
                      <a:r>
                        <a:rPr lang="zh-TW" sz="7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(特殊規格說明)</a:t>
                      </a:r>
                      <a:endParaRPr sz="7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 sz="10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</a:t>
                      </a:r>
                      <a:r>
                        <a:rPr lang="zh-TW" sz="1000" b="1" dirty="0">
                          <a:solidFill>
                            <a:srgbClr val="B7B7B7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備註：短秒只需要出直版</a:t>
                      </a:r>
                      <a:endParaRPr sz="1000" b="1" dirty="0">
                        <a:solidFill>
                          <a:srgbClr val="B7B7B7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0000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最大秒數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kumimoji="0" lang="en-US" altLang="zh-TW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6s</a:t>
                      </a:r>
                      <a:r>
                        <a:rPr kumimoji="0" lang="zh-TW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　　</a:t>
                      </a:r>
                      <a:r>
                        <a:rPr kumimoji="0" lang="en-US" altLang="zh-TW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kumimoji="0" lang="en-US" altLang="zh-TW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15s</a:t>
                      </a:r>
                      <a:r>
                        <a:rPr kumimoji="0" lang="zh-TW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　　</a:t>
                      </a:r>
                      <a:r>
                        <a:rPr kumimoji="0" lang="en-US" altLang="zh-TW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kumimoji="0" lang="en-US" altLang="zh-TW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30s</a:t>
                      </a:r>
                      <a:r>
                        <a:rPr kumimoji="0" lang="zh-TW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　　</a:t>
                      </a:r>
                      <a:r>
                        <a:rPr kumimoji="0" lang="en-US" altLang="zh-TW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kumimoji="0" lang="zh-TW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其他：</a:t>
                      </a:r>
                      <a:r>
                        <a:rPr kumimoji="0" lang="en-US" altLang="zh-TW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12s</a:t>
                      </a:r>
                      <a:r>
                        <a:rPr kumimoji="0" lang="zh-TW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左右</a:t>
                      </a:r>
                      <a:endParaRPr kumimoji="0" lang="zh-TW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34343"/>
                        </a:solidFill>
                        <a:effectLst/>
                        <a:uLnTx/>
                        <a:uFillTx/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素材類型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全新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部分沿用舊素材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舊素材微調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relanguage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resize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影像特殊需求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音效特殊需求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5" name="Google Shape;55;p13"/>
          <p:cNvGraphicFramePr/>
          <p:nvPr/>
        </p:nvGraphicFramePr>
        <p:xfrm>
          <a:off x="-405700" y="182550"/>
          <a:ext cx="765700" cy="36573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 b="1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Google Shape;56;p13"/>
          <p:cNvGraphicFramePr/>
          <p:nvPr>
            <p:extLst>
              <p:ext uri="{D42A27DB-BD31-4B8C-83A1-F6EECF244321}">
                <p14:modId xmlns:p14="http://schemas.microsoft.com/office/powerpoint/2010/main" val="1439185917"/>
              </p:ext>
            </p:extLst>
          </p:nvPr>
        </p:nvGraphicFramePr>
        <p:xfrm>
          <a:off x="359988" y="3229200"/>
          <a:ext cx="8280075" cy="17524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44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8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21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畫面風格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尊爵、歐式皇家、可愛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配樂風格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廣告TA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貓咖玩家 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&amp;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喜歡貓咪、休閒遊戲的用戶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廣告目的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慶祝貓咖滿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30K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粉絲、擴大用戶層、提升互動率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廣告鉤子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兌換碼、抽獎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14"/>
          <p:cNvGraphicFramePr/>
          <p:nvPr>
            <p:extLst>
              <p:ext uri="{D42A27DB-BD31-4B8C-83A1-F6EECF244321}">
                <p14:modId xmlns:p14="http://schemas.microsoft.com/office/powerpoint/2010/main" val="145981459"/>
              </p:ext>
            </p:extLst>
          </p:nvPr>
        </p:nvGraphicFramePr>
        <p:xfrm>
          <a:off x="0" y="0"/>
          <a:ext cx="9143975" cy="5147875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32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850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素材尺寸 (需求標黃底, 紅字優先對稿)</a:t>
                      </a:r>
                      <a:endParaRPr sz="18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素材類型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檔案格式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150">
                <a:tc row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適用廣告/社群素材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Banner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1920*1080、1080*1920、1080*1350、1080*1080、1200*628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Video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</a:t>
                      </a:r>
                      <a:r>
                        <a:rPr lang="zh-TW" sz="10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、1080*1350、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1080*1080</a:t>
                      </a:r>
                      <a:endParaRPr sz="1000" dirty="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1920*1080、1080*1920、1080*1350、1080*1080、1200*628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850">
                <a:tc row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適用商店頁素材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Screenshot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橫：1920*1080 (AN)、2732*2048 (iOS iPAD)、2688*1242、2208*1242 (iOS手機)</a:t>
                      </a:r>
                      <a:b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直：1080*1920 (AN)、2048*2732 (iOS iPAD)、1242*2688、1242*2208 (iOS手機)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主題圖片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1024*500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Liveops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1080*1920、1920*1080、1080*1080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主題影片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1920*1080、1920*886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Icon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512*512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&lt;1MB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 (自填尺寸)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Google Shape;66;p15"/>
          <p:cNvGraphicFramePr/>
          <p:nvPr>
            <p:extLst>
              <p:ext uri="{D42A27DB-BD31-4B8C-83A1-F6EECF244321}">
                <p14:modId xmlns:p14="http://schemas.microsoft.com/office/powerpoint/2010/main" val="1115623118"/>
              </p:ext>
            </p:extLst>
          </p:nvPr>
        </p:nvGraphicFramePr>
        <p:xfrm>
          <a:off x="50" y="25"/>
          <a:ext cx="9143975" cy="5143495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76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5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0725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分鏡總表</a:t>
                      </a:r>
                      <a:endParaRPr sz="2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b="1" dirty="0">
                          <a:solidFill>
                            <a:srgbClr val="99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僅動態素材(gif/ video)才需填寫</a:t>
                      </a:r>
                      <a:endParaRPr sz="800" b="1" dirty="0">
                        <a:solidFill>
                          <a:srgbClr val="99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分鏡</a:t>
                      </a:r>
                      <a:endParaRPr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altLang="zh-TW" sz="1000" dirty="0"/>
                        <a:t>揭幕</a:t>
                      </a:r>
                      <a:endParaRPr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 altLang="en-US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altLang="zh-TW" sz="1000" dirty="0"/>
                        <a:t>感謝與指引</a:t>
                      </a:r>
                      <a:endParaRPr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en-US" altLang="zh-TW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altLang="zh-TW" sz="1000" dirty="0"/>
                        <a:t>兌換碼</a:t>
                      </a:r>
                      <a:r>
                        <a:rPr lang="zh-TW" altLang="en-US" sz="1000" dirty="0"/>
                        <a:t>揭示</a:t>
                      </a:r>
                      <a:endParaRPr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r>
                        <a:rPr lang="en-US" altLang="zh-TW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altLang="en-US" sz="1000" dirty="0"/>
                        <a:t>落幕、貓咪剪影</a:t>
                      </a:r>
                      <a:endParaRPr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示意圖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6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分鏡說明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2860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TW" altLang="zh-TW" sz="1000" dirty="0"/>
                        <a:t>戶外大廣場中央，巨大的紅色布幕拉開，純白雕像亮相。</a:t>
                      </a:r>
                      <a:endParaRPr lang="en-US" altLang="zh-TW" sz="1000" dirty="0"/>
                    </a:p>
                    <a:p>
                      <a:pPr marL="22860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TW" altLang="zh-TW" sz="1000" dirty="0"/>
                        <a:t>店長貓</a:t>
                      </a:r>
                      <a:r>
                        <a:rPr lang="zh-TW" altLang="en-US" sz="1000" dirty="0"/>
                        <a:t>鞠躬</a:t>
                      </a:r>
                      <a:r>
                        <a:rPr lang="zh-TW" altLang="zh-TW" sz="1000" dirty="0"/>
                        <a:t>，宣布 3 萬粉消息。</a:t>
                      </a:r>
                      <a:endParaRPr lang="en-US" altLang="zh-TW" sz="1000" dirty="0"/>
                    </a:p>
                    <a:p>
                      <a:pPr marL="22860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TW" altLang="zh-TW" sz="1000" dirty="0"/>
                        <a:t>順著雕像的指引看向天空，揭曉序號。</a:t>
                      </a:r>
                      <a:endParaRPr lang="en-US" altLang="zh-TW" sz="1000" dirty="0"/>
                    </a:p>
                    <a:p>
                      <a:pPr marL="22860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TW" altLang="zh-TW" sz="1000" dirty="0"/>
                        <a:t>幕落變暗，角色剪影預告。</a:t>
                      </a:r>
                      <a:endParaRPr lang="en-US" altLang="zh-TW"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F8592261-6B26-83D2-1A0D-235FE2FBE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582" y="1606732"/>
            <a:ext cx="1594399" cy="232845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B557E65-EDBF-0404-F55F-E2F906F43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0543" y="2091192"/>
            <a:ext cx="1683733" cy="96111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D961D90-C01B-AA28-AE28-31307D8738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120" y="1704388"/>
            <a:ext cx="1458627" cy="1734724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BD9893A7-258B-2C12-8BB9-5DFC2C1DB164}"/>
              </a:ext>
            </a:extLst>
          </p:cNvPr>
          <p:cNvGrpSpPr/>
          <p:nvPr/>
        </p:nvGrpSpPr>
        <p:grpSpPr>
          <a:xfrm>
            <a:off x="7223634" y="1908405"/>
            <a:ext cx="1737485" cy="1326690"/>
            <a:chOff x="221943" y="1367844"/>
            <a:chExt cx="2909607" cy="1938189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1A6EC211-1AC7-82FB-641E-CFA01AF7B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1943" y="1367844"/>
              <a:ext cx="2909607" cy="1938189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7137B10C-7C42-6AA1-CB26-463BC9C38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biLevel thresh="75000"/>
            </a:blip>
            <a:stretch>
              <a:fillRect/>
            </a:stretch>
          </p:blipFill>
          <p:spPr>
            <a:xfrm>
              <a:off x="1025520" y="1572195"/>
              <a:ext cx="1302452" cy="1529485"/>
            </a:xfrm>
            <a:prstGeom prst="rect">
              <a:avLst/>
            </a:prstGeom>
          </p:spPr>
        </p:pic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4B73214A-44D4-4ED4-8EF4-36C7A70AE8E4}"/>
                </a:ext>
              </a:extLst>
            </p:cNvPr>
            <p:cNvSpPr/>
            <p:nvPr/>
          </p:nvSpPr>
          <p:spPr>
            <a:xfrm>
              <a:off x="1613263" y="2181497"/>
              <a:ext cx="346166" cy="280851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Google Shape;76;p17"/>
          <p:cNvGraphicFramePr/>
          <p:nvPr>
            <p:extLst>
              <p:ext uri="{D42A27DB-BD31-4B8C-83A1-F6EECF244321}">
                <p14:modId xmlns:p14="http://schemas.microsoft.com/office/powerpoint/2010/main" val="4021261927"/>
              </p:ext>
            </p:extLst>
          </p:nvPr>
        </p:nvGraphicFramePr>
        <p:xfrm>
          <a:off x="3614775" y="0"/>
          <a:ext cx="5529225" cy="5143488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13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1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1.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歐式皇家大廳，如示意圖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-&gt;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  不要有窗戶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但如果不好切換場景也可以做大廣場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2.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紅色布幔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584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雕像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1. 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店長貓的雕像，一手斜指天空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  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員工皮膚總覽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\co_0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2.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雕像的衣服可以有色也可以無色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請協助設計，看哪版比較好看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b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   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收集冊服裝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   - he_222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、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bo_241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72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店長貓</a:t>
                      </a:r>
                      <a:endParaRPr lang="en-US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員工皮膚總覽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\co_0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p.s. 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沒穿衣服會很怪嗎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..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會的話請穿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bo_56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13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視角／鏡位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動態說明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文案/ 對白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秒數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029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zh-TW" sz="800" dirty="0"/>
                        <a:t>正面平視</a:t>
                      </a:r>
                      <a:endParaRPr lang="en-US" altLang="zh-TW" sz="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/>
                        <a:t> </a:t>
                      </a:r>
                      <a:r>
                        <a:rPr lang="en-US" altLang="zh-TW" sz="800" dirty="0"/>
                        <a:t>(</a:t>
                      </a:r>
                      <a:r>
                        <a:rPr lang="zh-TW" altLang="en-US" sz="800" dirty="0"/>
                        <a:t>或仰視雕像</a:t>
                      </a:r>
                      <a:r>
                        <a:rPr lang="en-US" altLang="zh-TW" sz="800" dirty="0"/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zh-TW" sz="800" dirty="0"/>
                        <a:t>全景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zh-TW" altLang="zh-TW" sz="800" dirty="0"/>
                        <a:t>畫面中央原本覆蓋著巨大的紅色布幕，接著布幕流暢地向左右兩側滑開</a:t>
                      </a:r>
                      <a:endParaRPr lang="en-US" altLang="zh-TW" sz="800" dirty="0"/>
                    </a:p>
                    <a:p>
                      <a:pPr marL="228600" indent="-228600">
                        <a:buAutoNum type="arabicPeriod"/>
                      </a:pPr>
                      <a:r>
                        <a:rPr lang="zh-TW" altLang="zh-TW" sz="800" dirty="0"/>
                        <a:t>布幕後方矗立著一尊</a:t>
                      </a:r>
                      <a:r>
                        <a:rPr lang="zh-TW" altLang="zh-TW" sz="800" b="1" dirty="0"/>
                        <a:t>純白</a:t>
                      </a:r>
                      <a:r>
                        <a:rPr lang="zh-TW" altLang="en-US" sz="800" b="1" dirty="0"/>
                        <a:t>的</a:t>
                      </a:r>
                      <a:r>
                        <a:rPr lang="zh-TW" altLang="zh-TW" sz="800" dirty="0"/>
                        <a:t>貓咪雕像（雕刻著戴皇冠、穿披風的新造型，帶有一點神聖的發光感）。</a:t>
                      </a:r>
                      <a:endParaRPr lang="en-US" altLang="zh-TW" sz="800" dirty="0"/>
                    </a:p>
                    <a:p>
                      <a:pPr marL="228600" indent="-228600">
                        <a:buAutoNum type="arabicPeriod"/>
                      </a:pPr>
                      <a:r>
                        <a:rPr lang="zh-TW" altLang="zh-TW" sz="800" dirty="0"/>
                        <a:t>「店長貓」站在雕像旁邊，頭上冒出開心期待的星星符號。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1-2s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373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音樂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莊嚴盛大的典禮音樂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5481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音效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7" name="Google Shape;77;p17"/>
          <p:cNvGraphicFramePr/>
          <p:nvPr/>
        </p:nvGraphicFramePr>
        <p:xfrm>
          <a:off x="-12" y="335238"/>
          <a:ext cx="3614775" cy="48082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2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8875">
                <a:tc rowSpan="2"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9375">
                <a:tc gridSpan="3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8" name="Google Shape;78;p17"/>
          <p:cNvGraphicFramePr/>
          <p:nvPr>
            <p:extLst>
              <p:ext uri="{D42A27DB-BD31-4B8C-83A1-F6EECF244321}">
                <p14:modId xmlns:p14="http://schemas.microsoft.com/office/powerpoint/2010/main" val="911967132"/>
              </p:ext>
            </p:extLst>
          </p:nvPr>
        </p:nvGraphicFramePr>
        <p:xfrm>
          <a:off x="0" y="0"/>
          <a:ext cx="3614775" cy="3352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47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分鏡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秒數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1-2s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圖片 2" descr="故事 Pin 圖片">
            <a:extLst>
              <a:ext uri="{FF2B5EF4-FFF2-40B4-BE49-F238E27FC236}">
                <a16:creationId xmlns:a16="http://schemas.microsoft.com/office/drawing/2014/main" id="{05FCB41F-EBE6-1AF2-C365-A3A4B4F02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12" y="804056"/>
            <a:ext cx="2637752" cy="387061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0807044-5DCD-BCA6-5204-9619A81E2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7800" y="2571750"/>
            <a:ext cx="706319" cy="1285502"/>
          </a:xfrm>
          <a:prstGeom prst="rect">
            <a:avLst/>
          </a:prstGeom>
        </p:spPr>
      </p:pic>
      <p:pic>
        <p:nvPicPr>
          <p:cNvPr id="8" name="圖片 7" descr="故事 Pin 圖片">
            <a:extLst>
              <a:ext uri="{FF2B5EF4-FFF2-40B4-BE49-F238E27FC236}">
                <a16:creationId xmlns:a16="http://schemas.microsoft.com/office/drawing/2014/main" id="{7E863E89-914F-5A6B-0C31-A8A5E29EE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886" y="429810"/>
            <a:ext cx="921647" cy="135241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EA3F216-4398-B45D-7C80-D0C13386D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1171" y="1614895"/>
            <a:ext cx="914400" cy="11430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5B060FD9-2449-44BD-9A36-DDDD4BDC1F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6017" y="1753640"/>
            <a:ext cx="654488" cy="81811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242D4069-5719-17CE-5BCE-634F33F71B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1611" y="1470712"/>
            <a:ext cx="736267" cy="88907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B5C24892-9506-633E-E59B-689DCA4B13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1629" y="1838556"/>
            <a:ext cx="576229" cy="720286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5922CEF4-98C0-1F05-6B91-41A9A023E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7080222" y="429810"/>
            <a:ext cx="921646" cy="6110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28956B49-D827-C413-D269-75BC0610B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Google Shape;76;p17">
            <a:extLst>
              <a:ext uri="{FF2B5EF4-FFF2-40B4-BE49-F238E27FC236}">
                <a16:creationId xmlns:a16="http://schemas.microsoft.com/office/drawing/2014/main" id="{E3CF5919-ECA1-91C0-1DE0-3DFDF77EE6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0297951"/>
              </p:ext>
            </p:extLst>
          </p:nvPr>
        </p:nvGraphicFramePr>
        <p:xfrm>
          <a:off x="3614775" y="0"/>
          <a:ext cx="5528000" cy="5180778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4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343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3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歐式皇家大廳，如示意圖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-&gt;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  不要有窗戶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欄杆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但如果不好切換場景也可以做大廣場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65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雕像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1. 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店長貓的雕像 ，一手斜指天空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  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員工皮膚總覽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\co_0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2.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雕像的衣服可以有色也可以無色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請協助設計，看哪版比較好看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b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   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收集冊服裝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   - he_222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、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bo_241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43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店長貓</a:t>
                      </a:r>
                      <a:endParaRPr lang="en-US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員工皮膚總覽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\co_0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p.s. 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沒穿衣服會很怪嗎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..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會的話請穿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bo_56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43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視角／鏡位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動態說明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文案/ 對白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秒數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957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/>
                        <a:t>平視 </a:t>
                      </a:r>
                      <a:r>
                        <a:rPr lang="en-US" altLang="zh-TW" sz="800" dirty="0"/>
                        <a:t>/</a:t>
                      </a:r>
                      <a:r>
                        <a:rPr lang="zh-TW" altLang="en-US" sz="800" dirty="0"/>
                        <a:t> </a:t>
                      </a:r>
                      <a:r>
                        <a:rPr lang="zh-TW" altLang="zh-TW" sz="800" dirty="0"/>
                        <a:t>中景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zh-TW" altLang="zh-TW" sz="800" dirty="0"/>
                        <a:t>店長貓對前方深鞠躬。</a:t>
                      </a:r>
                      <a:endParaRPr lang="en-US" altLang="zh-TW" sz="800" dirty="0"/>
                    </a:p>
                    <a:p>
                      <a:pPr marL="228600" indent="-228600">
                        <a:buAutoNum type="arabicPeriod"/>
                      </a:pPr>
                      <a:r>
                        <a:rPr lang="zh-TW" altLang="en-US" sz="800" dirty="0"/>
                        <a:t>接著店長貓轉身，用另一隻手驕傲地指向那尊純白的貓咪雕像。</a:t>
                      </a:r>
                      <a:endParaRPr lang="en-US" altLang="zh-TW" sz="80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AutoNum type="arabicPeriod"/>
                        <a:tabLst/>
                        <a:defRPr/>
                      </a:pPr>
                      <a:r>
                        <a:rPr lang="zh-TW" altLang="en-US" sz="800" dirty="0"/>
                        <a:t>畫面上方彈出像素風的對話框：「感謝店長們的陪伴，貓咖</a:t>
                      </a:r>
                      <a:r>
                        <a:rPr lang="en-US" altLang="zh-TW" sz="800" dirty="0"/>
                        <a:t>3</a:t>
                      </a:r>
                      <a:r>
                        <a:rPr lang="zh-TW" altLang="en-US" sz="800" dirty="0"/>
                        <a:t>萬粉啦🎉」。</a:t>
                      </a:r>
                      <a:endParaRPr lang="en-US" altLang="zh-TW" sz="80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AutoNum type="arabicPeriod"/>
                        <a:tabLst/>
                        <a:defRPr/>
                      </a:pPr>
                      <a:r>
                        <a:rPr lang="zh-TW" altLang="en-US" sz="800" dirty="0"/>
                        <a:t>廣場上空飄落繽紛的彩色碎紙片，增添戶外慶典的熱鬧感。</a:t>
                      </a:r>
                      <a:endParaRPr lang="zh-TW" altLang="zh-TW" sz="8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/>
                        <a:t>感謝店長們的陪伴，貓咖</a:t>
                      </a:r>
                      <a:r>
                        <a:rPr lang="en-US" altLang="zh-TW" sz="800" dirty="0"/>
                        <a:t>3</a:t>
                      </a:r>
                      <a:r>
                        <a:rPr lang="zh-TW" altLang="en-US" sz="800" dirty="0"/>
                        <a:t>萬粉啦🎉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3s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12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音樂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開心、慶典音樂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512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音效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鞠躬時出現掌聲跟禮炮聲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7" name="Google Shape;77;p17">
            <a:extLst>
              <a:ext uri="{FF2B5EF4-FFF2-40B4-BE49-F238E27FC236}">
                <a16:creationId xmlns:a16="http://schemas.microsoft.com/office/drawing/2014/main" id="{86067C82-01CF-7AE4-7B8D-6A7E28A74E7F}"/>
              </a:ext>
            </a:extLst>
          </p:cNvPr>
          <p:cNvGraphicFramePr/>
          <p:nvPr/>
        </p:nvGraphicFramePr>
        <p:xfrm>
          <a:off x="-12" y="335238"/>
          <a:ext cx="3614775" cy="48082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2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8875">
                <a:tc rowSpan="2"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9375">
                <a:tc gridSpan="3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8" name="Google Shape;78;p17">
            <a:extLst>
              <a:ext uri="{FF2B5EF4-FFF2-40B4-BE49-F238E27FC236}">
                <a16:creationId xmlns:a16="http://schemas.microsoft.com/office/drawing/2014/main" id="{EED7B9AB-7C89-C286-55DC-58F94AF9BE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9709138"/>
              </p:ext>
            </p:extLst>
          </p:nvPr>
        </p:nvGraphicFramePr>
        <p:xfrm>
          <a:off x="0" y="0"/>
          <a:ext cx="3614775" cy="3352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47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分鏡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秒數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3s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圖片 7" descr="故事 Pin 圖片">
            <a:extLst>
              <a:ext uri="{FF2B5EF4-FFF2-40B4-BE49-F238E27FC236}">
                <a16:creationId xmlns:a16="http://schemas.microsoft.com/office/drawing/2014/main" id="{C755DAB2-10C9-F3B7-E8A4-21E436E1D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363" y="504766"/>
            <a:ext cx="921647" cy="135241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81D8392-08A8-C5DB-1717-D5053DA0B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171" y="1614895"/>
            <a:ext cx="914400" cy="11430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5CFD71F1-5DDD-BF8E-EA61-AEFEC772E1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017" y="1753640"/>
            <a:ext cx="654488" cy="81811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AA669E42-1E01-9701-49AC-9603784898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1611" y="1470712"/>
            <a:ext cx="736267" cy="88907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D61BD2D2-0ECD-E6AE-AE96-A94CB83355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1629" y="1838556"/>
            <a:ext cx="576229" cy="72028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5EA7DC3-1E83-8842-B5AC-538F2000F4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035" y="1753640"/>
            <a:ext cx="3100795" cy="174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031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13E7C8D2-C721-5BCC-D243-9D320B8BF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Google Shape;76;p17">
            <a:extLst>
              <a:ext uri="{FF2B5EF4-FFF2-40B4-BE49-F238E27FC236}">
                <a16:creationId xmlns:a16="http://schemas.microsoft.com/office/drawing/2014/main" id="{A15D2221-E145-7A9F-E655-8F9A1ADD99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9890022"/>
              </p:ext>
            </p:extLst>
          </p:nvPr>
        </p:nvGraphicFramePr>
        <p:xfrm>
          <a:off x="3614775" y="0"/>
          <a:ext cx="5528000" cy="5143502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4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343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3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白日的藍天，雲朵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65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雕像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1. 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店長貓的雕像 ，一手斜指天空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  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員工皮膚總覽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\co_0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2. 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雕像的衣服可以有色也可以無色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請協助設計，看哪版比較好看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b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   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收集冊服裝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   - he_222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、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bo_241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43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店長貓</a:t>
                      </a:r>
                      <a:endParaRPr lang="en-US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員工皮膚總覽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\co_0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p.s. 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沒穿衣服會很怪嗎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..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會的話請穿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bo_56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43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視角／鏡位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動態說明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文案/ 對白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秒數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957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zh-TW" sz="800" dirty="0"/>
                        <a:t>仰角鏡頭</a:t>
                      </a:r>
                      <a:endParaRPr lang="en-US" altLang="zh-TW" sz="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zh-TW" sz="800" dirty="0"/>
                        <a:t>鏡頭向上平移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zh-TW" altLang="zh-TW" sz="800" dirty="0"/>
                        <a:t>畫面跟隨純白雕像舉起的手（或權杖）指向上方，鏡頭順勢向上移動。</a:t>
                      </a:r>
                      <a:endParaRPr lang="en-US" altLang="zh-TW" sz="800" dirty="0"/>
                    </a:p>
                    <a:p>
                      <a:pPr marL="228600" indent="-228600">
                        <a:buAutoNum type="arabicPeriod"/>
                      </a:pPr>
                      <a:r>
                        <a:rPr lang="zh-TW" altLang="zh-TW" sz="800" dirty="0"/>
                        <a:t>鏡頭帶到開闊天空（清澈的藍天）。</a:t>
                      </a:r>
                      <a:endParaRPr lang="en-US" altLang="zh-TW" sz="800" dirty="0"/>
                    </a:p>
                    <a:p>
                      <a:pPr marL="228600" indent="-228600">
                        <a:buAutoNum type="arabicPeriod"/>
                      </a:pPr>
                      <a:r>
                        <a:rPr lang="zh-TW" altLang="zh-TW" sz="800" dirty="0"/>
                        <a:t>天空中以白雲排列，浮現出兌換碼字樣：</a:t>
                      </a:r>
                      <a:r>
                        <a:rPr lang="zh-TW" altLang="zh-TW" sz="800" b="1" dirty="0"/>
                        <a:t>【IG30K】</a:t>
                      </a:r>
                      <a:r>
                        <a:rPr lang="zh-TW" altLang="zh-TW" sz="800" dirty="0"/>
                        <a:t>。字體帶有微微的縮放呼吸效果。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zh-TW" sz="800" dirty="0"/>
                        <a:t>兌換</a:t>
                      </a:r>
                      <a:r>
                        <a:rPr lang="zh-TW" altLang="en-US" sz="800" dirty="0"/>
                        <a:t>碼</a:t>
                      </a:r>
                      <a:endParaRPr lang="en-US" altLang="zh-TW" sz="800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zh-TW" sz="800" b="1" dirty="0"/>
                        <a:t>【IG30K】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3s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12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音樂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開心、慶典音樂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512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音效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歡呼聲、禮炮聲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7" name="Google Shape;77;p17">
            <a:extLst>
              <a:ext uri="{FF2B5EF4-FFF2-40B4-BE49-F238E27FC236}">
                <a16:creationId xmlns:a16="http://schemas.microsoft.com/office/drawing/2014/main" id="{014815CF-80D3-5670-A6FB-F22AF523C356}"/>
              </a:ext>
            </a:extLst>
          </p:cNvPr>
          <p:cNvGraphicFramePr/>
          <p:nvPr/>
        </p:nvGraphicFramePr>
        <p:xfrm>
          <a:off x="-12" y="335238"/>
          <a:ext cx="3614775" cy="48082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2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8875">
                <a:tc rowSpan="2"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9375">
                <a:tc gridSpan="3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8" name="Google Shape;78;p17">
            <a:extLst>
              <a:ext uri="{FF2B5EF4-FFF2-40B4-BE49-F238E27FC236}">
                <a16:creationId xmlns:a16="http://schemas.microsoft.com/office/drawing/2014/main" id="{92D54E7B-BFDE-3C38-F833-988DA7D58B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6232697"/>
              </p:ext>
            </p:extLst>
          </p:nvPr>
        </p:nvGraphicFramePr>
        <p:xfrm>
          <a:off x="0" y="0"/>
          <a:ext cx="3614775" cy="3352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47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分鏡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秒數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3s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圖片 7" descr="故事 Pin 圖片">
            <a:extLst>
              <a:ext uri="{FF2B5EF4-FFF2-40B4-BE49-F238E27FC236}">
                <a16:creationId xmlns:a16="http://schemas.microsoft.com/office/drawing/2014/main" id="{16FE7B08-1423-13AD-5D3F-1EFD06882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363" y="504766"/>
            <a:ext cx="921647" cy="135241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68B239B-089C-1615-5A98-9FBFCA8AE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171" y="1614895"/>
            <a:ext cx="914400" cy="11430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AB71F12A-6957-E49D-4337-BA2E78B5A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017" y="1753640"/>
            <a:ext cx="654488" cy="81811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3D3DF2F4-8F7D-1E8D-4D8C-3F6C277958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1611" y="1470712"/>
            <a:ext cx="736267" cy="88907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B3FAA4B4-4F41-5830-DFF8-1B1DAAADF6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1629" y="1838556"/>
            <a:ext cx="576229" cy="72028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6679C1D-5D48-003D-0AE2-54CAAC3CB6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630" y="1292840"/>
            <a:ext cx="1781424" cy="106694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D9CF2B6-C53F-25C7-F9F0-DBDFD340CD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145" y="2327441"/>
            <a:ext cx="1781424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98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81FB8FB9-7726-9019-E44D-4D4ECCF20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Google Shape;76;p17">
            <a:extLst>
              <a:ext uri="{FF2B5EF4-FFF2-40B4-BE49-F238E27FC236}">
                <a16:creationId xmlns:a16="http://schemas.microsoft.com/office/drawing/2014/main" id="{6C685A8B-6269-91A4-7754-AA06A3B043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8770489"/>
              </p:ext>
            </p:extLst>
          </p:nvPr>
        </p:nvGraphicFramePr>
        <p:xfrm>
          <a:off x="3614775" y="0"/>
          <a:ext cx="5528000" cy="4193851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4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343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3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白日的藍天，雲朵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紅色布幔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43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貓剪影</a:t>
                      </a:r>
                      <a:endParaRPr lang="en-US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劇情對話貓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\</a:t>
                      </a:r>
                      <a:r>
                        <a:rPr lang="en-US" altLang="zh-TW" sz="800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NPC_grandpa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43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視角／鏡位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動態說明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文案/ 對白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秒數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957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zh-TW" sz="800" dirty="0"/>
                        <a:t>正面平視</a:t>
                      </a:r>
                      <a:endParaRPr lang="en-US" altLang="zh-TW" sz="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zh-TW" sz="800" dirty="0"/>
                        <a:t>全景</a:t>
                      </a:r>
                      <a:endParaRPr lang="en-US" altLang="zh-TW" sz="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zh-TW" sz="800" dirty="0"/>
                        <a:t>轉 聚光燈特寫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zh-TW" altLang="zh-TW" sz="800" dirty="0"/>
                        <a:t>紅色布幕再次從兩側向中間迅速闔上，將廣場與天空完全遮擋，接著整體環境變暗</a:t>
                      </a:r>
                      <a:endParaRPr lang="en-US" altLang="zh-TW" sz="800" dirty="0"/>
                    </a:p>
                    <a:p>
                      <a:pPr marL="228600" indent="-228600">
                        <a:buAutoNum type="arabicPeriod"/>
                      </a:pPr>
                      <a:r>
                        <a:rPr lang="zh-TW" altLang="zh-TW" sz="800" dirty="0"/>
                        <a:t>「啪」的一聲，一束明亮的聚光燈打在暗色的布幕正中央，照出一個神祕的純黑「貓咪剪影」</a:t>
                      </a:r>
                      <a:endParaRPr lang="en-US" altLang="zh-TW" sz="8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2-3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12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音樂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512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音效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歡呼勝變弱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聚光燈音效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貓咪剪影出現有懸疑的音效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可參考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  <a:hlinkClick r:id="rId3"/>
                        </a:rPr>
                        <a:t>Link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0:33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6:20)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7" name="Google Shape;77;p17">
            <a:extLst>
              <a:ext uri="{FF2B5EF4-FFF2-40B4-BE49-F238E27FC236}">
                <a16:creationId xmlns:a16="http://schemas.microsoft.com/office/drawing/2014/main" id="{9BB9353A-B4FD-794F-EBEB-185B35A02833}"/>
              </a:ext>
            </a:extLst>
          </p:cNvPr>
          <p:cNvGraphicFramePr/>
          <p:nvPr/>
        </p:nvGraphicFramePr>
        <p:xfrm>
          <a:off x="-12" y="335238"/>
          <a:ext cx="3614775" cy="48082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2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8875">
                <a:tc rowSpan="2"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9375">
                <a:tc gridSpan="3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8" name="Google Shape;78;p17">
            <a:extLst>
              <a:ext uri="{FF2B5EF4-FFF2-40B4-BE49-F238E27FC236}">
                <a16:creationId xmlns:a16="http://schemas.microsoft.com/office/drawing/2014/main" id="{198658FF-3D66-D613-8A48-F4D44ECD24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5870702"/>
              </p:ext>
            </p:extLst>
          </p:nvPr>
        </p:nvGraphicFramePr>
        <p:xfrm>
          <a:off x="0" y="0"/>
          <a:ext cx="3614775" cy="3352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47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分鏡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秒數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2-3s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" name="群組 14">
            <a:extLst>
              <a:ext uri="{FF2B5EF4-FFF2-40B4-BE49-F238E27FC236}">
                <a16:creationId xmlns:a16="http://schemas.microsoft.com/office/drawing/2014/main" id="{12D926B4-3D75-885D-D74C-45979906F0B8}"/>
              </a:ext>
            </a:extLst>
          </p:cNvPr>
          <p:cNvGrpSpPr/>
          <p:nvPr/>
        </p:nvGrpSpPr>
        <p:grpSpPr>
          <a:xfrm>
            <a:off x="352571" y="1602655"/>
            <a:ext cx="2909607" cy="1938189"/>
            <a:chOff x="221943" y="1367844"/>
            <a:chExt cx="2909607" cy="1938189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2D314948-787D-2DC7-8C24-43CE2D4E1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1943" y="1367844"/>
              <a:ext cx="2909607" cy="1938189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5B324059-7C55-7E8F-89A4-E08953FA6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75000"/>
            </a:blip>
            <a:stretch>
              <a:fillRect/>
            </a:stretch>
          </p:blipFill>
          <p:spPr>
            <a:xfrm>
              <a:off x="1025520" y="1572195"/>
              <a:ext cx="1302452" cy="1529485"/>
            </a:xfrm>
            <a:prstGeom prst="rect">
              <a:avLst/>
            </a:prstGeom>
          </p:spPr>
        </p:pic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F8A4E0DD-BFC5-5943-439E-8F988970417E}"/>
                </a:ext>
              </a:extLst>
            </p:cNvPr>
            <p:cNvSpPr/>
            <p:nvPr/>
          </p:nvSpPr>
          <p:spPr>
            <a:xfrm>
              <a:off x="1613263" y="2181497"/>
              <a:ext cx="346166" cy="280851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13" name="圖片 12">
            <a:extLst>
              <a:ext uri="{FF2B5EF4-FFF2-40B4-BE49-F238E27FC236}">
                <a16:creationId xmlns:a16="http://schemas.microsoft.com/office/drawing/2014/main" id="{C9A5D659-81D9-454D-1C88-4DBF70C8E6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7759336" y="623626"/>
            <a:ext cx="1298201" cy="86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829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9"/>
          <p:cNvGraphicFramePr/>
          <p:nvPr/>
        </p:nvGraphicFramePr>
        <p:xfrm>
          <a:off x="0" y="-8287"/>
          <a:ext cx="9144000" cy="5143450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10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6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素材規範</a:t>
                      </a:r>
                      <a:endParaRPr sz="2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統一適用後續每支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廣告素材（商店頁不適用）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，並將不在腳本中特別註明</a:t>
                      </a:r>
                      <a:endParaRPr sz="8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75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規格/ 示意圖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400"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尺寸安全框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重點訊息</a:t>
                      </a: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請優先放置於安全區內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0782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畫面左上置頂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依素材內容套用，若背景太花logo不明顯，加背景相近色的色塊底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分級標誌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右下置底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適用台灣遊戲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26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警語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下方置底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最小化字級，分行最多不超過兩行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 (1)文字與背景相近色、(2)文字與文案相近字型、(3)可不加色塊底/ 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台灣：這不是一款賭博遊戲，且無任何方式可以贏得金錢獎勵或具有金錢價值的獎品。嚴禁賭博。</a:t>
                      </a:r>
                      <a:b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印尼：Game ini tidak menyediakan aktivitas perjudian apa pun, chips dalam game tidak dapat ditukar dengan uang tunai atau barang nyata lainnya.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適用印尼及中文德撲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90" name="Google Shape;90;p19"/>
          <p:cNvPicPr preferRelativeResize="0"/>
          <p:nvPr/>
        </p:nvPicPr>
        <p:blipFill rotWithShape="1">
          <a:blip r:embed="rId3">
            <a:alphaModFix/>
          </a:blip>
          <a:srcRect l="29687" t="12599" r="3703" b="17012"/>
          <a:stretch/>
        </p:blipFill>
        <p:spPr>
          <a:xfrm>
            <a:off x="2436075" y="1327125"/>
            <a:ext cx="1676449" cy="17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5675" y="1712000"/>
            <a:ext cx="2072491" cy="108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9"/>
          <p:cNvPicPr preferRelativeResize="0"/>
          <p:nvPr/>
        </p:nvPicPr>
        <p:blipFill rotWithShape="1">
          <a:blip r:embed="rId5">
            <a:alphaModFix/>
          </a:blip>
          <a:srcRect t="26714" b="13131"/>
          <a:stretch/>
        </p:blipFill>
        <p:spPr>
          <a:xfrm>
            <a:off x="6351325" y="1409024"/>
            <a:ext cx="2130050" cy="160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1596</Words>
  <Application>Microsoft Office PowerPoint</Application>
  <PresentationFormat>如螢幕大小 (16:9)</PresentationFormat>
  <Paragraphs>227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Microsoft JhengHei</vt:lpstr>
      <vt:lpstr>Arial</vt:lpstr>
      <vt:lpstr>Simple Light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William</dc:creator>
  <cp:lastModifiedBy>柴怡辰 jhuo.chai</cp:lastModifiedBy>
  <cp:revision>9</cp:revision>
  <dcterms:modified xsi:type="dcterms:W3CDTF">2026-06-11T02:58:04Z</dcterms:modified>
</cp:coreProperties>
</file>