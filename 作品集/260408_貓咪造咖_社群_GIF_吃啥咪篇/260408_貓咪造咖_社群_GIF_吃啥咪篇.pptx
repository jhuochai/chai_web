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58" r:id="rId4"/>
    <p:sldId id="260" r:id="rId5"/>
    <p:sldId id="262" r:id="rId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BF7B"/>
    <a:srgbClr val="664022"/>
    <a:srgbClr val="FFFFFF"/>
    <a:srgbClr val="FDFAE9"/>
    <a:srgbClr val="E4C088"/>
    <a:srgbClr val="9262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27BCB22-5DEB-4D4A-AEB1-C0894EA97893}">
  <a:tblStyle styleId="{D27BCB22-5DEB-4D4A-AEB1-C0894EA9789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0827450-85E5-4037-9B08-230FE2B864AC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2" d="100"/>
          <a:sy n="122" d="100"/>
        </p:scale>
        <p:origin x="831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3ce70d4e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3ce70d4e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6f67f4b9b1_2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6f67f4b9b1_2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6f67f4b9b1_2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6f67f4b9b1_2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6f67f4b9b1_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6f67f4b9b1_5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73ce70d4ea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73ce70d4ea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stagram.com/reels/DTIEp1-CYdg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" name="Google Shape;54;p13"/>
          <p:cNvGraphicFramePr/>
          <p:nvPr>
            <p:extLst>
              <p:ext uri="{D42A27DB-BD31-4B8C-83A1-F6EECF244321}">
                <p14:modId xmlns:p14="http://schemas.microsoft.com/office/powerpoint/2010/main" val="83940375"/>
              </p:ext>
            </p:extLst>
          </p:nvPr>
        </p:nvGraphicFramePr>
        <p:xfrm>
          <a:off x="360000" y="182550"/>
          <a:ext cx="8280050" cy="2895360"/>
        </p:xfrm>
        <a:graphic>
          <a:graphicData uri="http://schemas.openxmlformats.org/drawingml/2006/table">
            <a:tbl>
              <a:tblPr>
                <a:noFill/>
                <a:tableStyleId>{D27BCB22-5DEB-4D4A-AEB1-C0894EA97893}</a:tableStyleId>
              </a:tblPr>
              <a:tblGrid>
                <a:gridCol w="1445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34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0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素材名稱</a:t>
                      </a:r>
                      <a:endParaRPr sz="1100" b="1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貓咪造咖</a:t>
                      </a:r>
                      <a:r>
                        <a:rPr lang="zh-TW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：</a:t>
                      </a:r>
                      <a:r>
                        <a:rPr lang="en-US" altLang="zh-TW" sz="1100" b="1" dirty="0">
                          <a:solidFill>
                            <a:srgbClr val="FF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20260408</a:t>
                      </a:r>
                      <a:r>
                        <a:rPr lang="zh-TW" sz="1100" b="1" dirty="0">
                          <a:solidFill>
                            <a:srgbClr val="FF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_</a:t>
                      </a:r>
                      <a:r>
                        <a:rPr lang="zh-TW" altLang="en-US" sz="1100" b="1" dirty="0">
                          <a:solidFill>
                            <a:srgbClr val="FF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貓咪造咖</a:t>
                      </a:r>
                      <a:r>
                        <a:rPr lang="zh-TW" sz="1100" b="1" dirty="0">
                          <a:solidFill>
                            <a:srgbClr val="FF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_</a:t>
                      </a:r>
                      <a:r>
                        <a:rPr lang="en-US" altLang="zh-TW" sz="1100" b="1" dirty="0">
                          <a:solidFill>
                            <a:srgbClr val="FF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GIF</a:t>
                      </a:r>
                      <a:r>
                        <a:rPr lang="zh-TW" sz="1100" b="1" dirty="0">
                          <a:solidFill>
                            <a:srgbClr val="FF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_</a:t>
                      </a:r>
                      <a:r>
                        <a:rPr lang="zh-TW" altLang="en-US" sz="1100" b="1" dirty="0">
                          <a:solidFill>
                            <a:srgbClr val="FF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吃啥咪篇</a:t>
                      </a:r>
                      <a:endParaRPr sz="1100" b="1" dirty="0">
                        <a:solidFill>
                          <a:srgbClr val="FF0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檔案格式</a:t>
                      </a:r>
                      <a:endParaRPr sz="1100" b="1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影片　　</a:t>
                      </a:r>
                      <a:r>
                        <a:rPr lang="zh-TW" altLang="zh-TW" sz="1200" b="1" dirty="0">
                          <a:solidFill>
                            <a:srgbClr val="CC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☑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Gif廣宣　　</a:t>
                      </a:r>
                      <a:r>
                        <a:rPr 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靜態廣宣　　</a:t>
                      </a:r>
                      <a:r>
                        <a:rPr 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商店頁圖片　　</a:t>
                      </a:r>
                      <a:r>
                        <a:rPr 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H5廣宣　　</a:t>
                      </a:r>
                      <a:r>
                        <a:rPr 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互動廣宣　　</a:t>
                      </a:r>
                      <a:r>
                        <a:rPr 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其他：</a:t>
                      </a:r>
                      <a:endParaRPr sz="10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媒體</a:t>
                      </a:r>
                      <a:endParaRPr sz="1100" b="1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FB　　</a:t>
                      </a:r>
                      <a:r>
                        <a:rPr lang="zh-TW" alt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Google　　</a:t>
                      </a:r>
                      <a:r>
                        <a:rPr lang="zh-TW" alt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Tiktok　　</a:t>
                      </a:r>
                      <a:r>
                        <a:rPr lang="zh-TW" altLang="zh-TW" sz="1200" b="1" dirty="0">
                          <a:solidFill>
                            <a:srgbClr val="CC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☑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其他：</a:t>
                      </a:r>
                      <a:r>
                        <a:rPr lang="en-US" altLang="zh-TW" sz="1000" dirty="0">
                          <a:solidFill>
                            <a:schemeClr val="tx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IG</a:t>
                      </a:r>
                      <a:r>
                        <a:rPr lang="zh-TW" altLang="en-US" sz="1000" dirty="0">
                          <a:solidFill>
                            <a:schemeClr val="tx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、</a:t>
                      </a:r>
                      <a:r>
                        <a:rPr lang="en-US" altLang="zh-TW" sz="1000" dirty="0">
                          <a:solidFill>
                            <a:schemeClr val="tx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Threads</a:t>
                      </a:r>
                      <a:endParaRPr sz="1200" b="1" dirty="0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總支數</a:t>
                      </a:r>
                      <a:r>
                        <a:rPr lang="zh-TW" sz="7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(特殊規格說明)</a:t>
                      </a:r>
                      <a:endParaRPr sz="700" b="1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0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</a:t>
                      </a:r>
                      <a:endParaRPr sz="1000" b="1" dirty="0">
                        <a:solidFill>
                          <a:srgbClr val="B7B7B7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0000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0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最大秒數</a:t>
                      </a:r>
                      <a:endParaRPr sz="1100" b="1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altLang="zh-TW" sz="12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x</a:t>
                      </a:r>
                      <a:endParaRPr sz="1000" b="1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0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素材類型</a:t>
                      </a:r>
                      <a:endParaRPr sz="1100" b="1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 b="1" dirty="0">
                          <a:solidFill>
                            <a:srgbClr val="CC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☑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全新　　</a:t>
                      </a:r>
                      <a:r>
                        <a:rPr 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部分沿用舊素材　　</a:t>
                      </a:r>
                      <a:r>
                        <a:rPr 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舊素材微調　　</a:t>
                      </a:r>
                      <a:r>
                        <a:rPr 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relanguage　　</a:t>
                      </a:r>
                      <a:r>
                        <a:rPr 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resize</a:t>
                      </a:r>
                      <a:endParaRPr sz="10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影像特殊需求</a:t>
                      </a:r>
                      <a:endParaRPr sz="1100" b="1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x</a:t>
                      </a:r>
                      <a:endParaRPr sz="1000" dirty="0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音效特殊需求</a:t>
                      </a:r>
                      <a:endParaRPr sz="1100" b="1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x</a:t>
                      </a:r>
                      <a:endParaRPr sz="1000" dirty="0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5" name="Google Shape;55;p13"/>
          <p:cNvGraphicFramePr/>
          <p:nvPr/>
        </p:nvGraphicFramePr>
        <p:xfrm>
          <a:off x="-405700" y="182550"/>
          <a:ext cx="765700" cy="365730"/>
        </p:xfrm>
        <a:graphic>
          <a:graphicData uri="http://schemas.openxmlformats.org/drawingml/2006/table">
            <a:tbl>
              <a:tblPr>
                <a:noFill/>
                <a:tableStyleId>{D27BCB22-5DEB-4D4A-AEB1-C0894EA97893}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 b="1">
                          <a:solidFill>
                            <a:srgbClr val="CC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☑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6" name="Google Shape;56;p13"/>
          <p:cNvGraphicFramePr/>
          <p:nvPr>
            <p:extLst>
              <p:ext uri="{D42A27DB-BD31-4B8C-83A1-F6EECF244321}">
                <p14:modId xmlns:p14="http://schemas.microsoft.com/office/powerpoint/2010/main" val="198038561"/>
              </p:ext>
            </p:extLst>
          </p:nvPr>
        </p:nvGraphicFramePr>
        <p:xfrm>
          <a:off x="359988" y="3229200"/>
          <a:ext cx="8280075" cy="1752450"/>
        </p:xfrm>
        <a:graphic>
          <a:graphicData uri="http://schemas.openxmlformats.org/drawingml/2006/table">
            <a:tbl>
              <a:tblPr>
                <a:noFill/>
                <a:tableStyleId>{D27BCB22-5DEB-4D4A-AEB1-C0894EA97893}</a:tableStyleId>
              </a:tblPr>
              <a:tblGrid>
                <a:gridCol w="1445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3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9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畫面風格</a:t>
                      </a:r>
                      <a:endParaRPr sz="1100" b="1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清新、可愛</a:t>
                      </a:r>
                      <a:endParaRPr sz="10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9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配樂風格</a:t>
                      </a:r>
                      <a:endParaRPr sz="1100" b="1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(IG</a:t>
                      </a:r>
                      <a:r>
                        <a:rPr lang="zh-TW" altLang="en-US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選擇配樂</a:t>
                      </a:r>
                      <a:r>
                        <a:rPr lang="en-US" alt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:</a:t>
                      </a:r>
                      <a:r>
                        <a:rPr lang="zh-TW" altLang="en-US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</a:t>
                      </a:r>
                      <a:r>
                        <a:rPr lang="en-US" alt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Wake Up </a:t>
                      </a:r>
                      <a:r>
                        <a:rPr lang="en-US" altLang="zh-TW" sz="1000" dirty="0" err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Hajimi</a:t>
                      </a:r>
                      <a:r>
                        <a:rPr lang="en-US" alt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- </a:t>
                      </a:r>
                      <a:r>
                        <a:rPr lang="en-US" altLang="zh-TW" sz="1000" dirty="0" err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dollcatcher</a:t>
                      </a:r>
                      <a:r>
                        <a:rPr lang="en-US" alt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)</a:t>
                      </a:r>
                      <a:endParaRPr sz="10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9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廣告TA</a:t>
                      </a:r>
                      <a:endParaRPr sz="1100" b="1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貓咖玩家、選擇障礙</a:t>
                      </a:r>
                      <a:endParaRPr sz="10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9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廣告目的</a:t>
                      </a:r>
                      <a:endParaRPr sz="1100" b="1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dirty="0"/>
                        <a:t>以日常引發討論並增加用戶留存</a:t>
                      </a:r>
                      <a:r>
                        <a:rPr lang="en-US" altLang="zh-TW" sz="1000" dirty="0"/>
                        <a:t>(</a:t>
                      </a:r>
                      <a:r>
                        <a:rPr lang="zh-TW" altLang="en-US" sz="1000" dirty="0"/>
                        <a:t>用戶會在飯點時想到</a:t>
                      </a:r>
                      <a:r>
                        <a:rPr lang="en-US" altLang="zh-TW" sz="1000" dirty="0"/>
                        <a:t>)</a:t>
                      </a:r>
                      <a:r>
                        <a:rPr lang="zh-TW" altLang="en-US" sz="1000" dirty="0"/>
                        <a:t>與互動</a:t>
                      </a:r>
                      <a:endParaRPr sz="10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9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廣告鉤子</a:t>
                      </a:r>
                      <a:endParaRPr sz="1100" b="1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生活共鳴</a:t>
                      </a:r>
                      <a:endParaRPr sz="10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" name="Google Shape;61;p14"/>
          <p:cNvGraphicFramePr/>
          <p:nvPr>
            <p:extLst>
              <p:ext uri="{D42A27DB-BD31-4B8C-83A1-F6EECF244321}">
                <p14:modId xmlns:p14="http://schemas.microsoft.com/office/powerpoint/2010/main" val="2416236324"/>
              </p:ext>
            </p:extLst>
          </p:nvPr>
        </p:nvGraphicFramePr>
        <p:xfrm>
          <a:off x="0" y="0"/>
          <a:ext cx="9143975" cy="5147875"/>
        </p:xfrm>
        <a:graphic>
          <a:graphicData uri="http://schemas.openxmlformats.org/drawingml/2006/table">
            <a:tbl>
              <a:tblPr>
                <a:noFill/>
                <a:tableStyleId>{00827450-85E5-4037-9B08-230FE2B864AC}</a:tableStyleId>
              </a:tblPr>
              <a:tblGrid>
                <a:gridCol w="132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2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9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2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2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6850">
                <a:tc gridSpan="5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素材尺寸 (需求標黃底, 紅字優先對稿)</a:t>
                      </a:r>
                      <a:endParaRPr sz="1800" b="1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類別</a:t>
                      </a:r>
                      <a:endParaRPr sz="10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素材類型</a:t>
                      </a:r>
                      <a:endParaRPr sz="10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檔案格式</a:t>
                      </a:r>
                      <a:endParaRPr sz="10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尺寸</a:t>
                      </a:r>
                      <a:endParaRPr sz="10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備註</a:t>
                      </a:r>
                      <a:endParaRPr sz="10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00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150">
                <a:tc row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適用廣告/社群素材</a:t>
                      </a:r>
                      <a:endParaRPr sz="10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Banner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JPG</a:t>
                      </a: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1920*1080、1080*1920、1080*1350、1080*1080、1200*628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Video</a:t>
                      </a: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mp4</a:t>
                      </a: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1920*1080、</a:t>
                      </a:r>
                      <a:r>
                        <a:rPr lang="zh-TW" sz="1000" dirty="0">
                          <a:solidFill>
                            <a:srgbClr val="FF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1080*1920</a:t>
                      </a: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、1080*1350、1080*1080</a:t>
                      </a: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Gif</a:t>
                      </a: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JPG</a:t>
                      </a: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1920*1080、1080*1920、1080*1350、1080*1080、1200*628</a:t>
                      </a: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mp4</a:t>
                      </a: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1920*1080、1080*1920、</a:t>
                      </a:r>
                      <a:r>
                        <a:rPr lang="zh-TW" sz="1000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1080*1350、1080*1080</a:t>
                      </a:r>
                      <a:endParaRPr sz="1000" dirty="0">
                        <a:solidFill>
                          <a:schemeClr val="dk1"/>
                        </a:solidFill>
                        <a:highlight>
                          <a:srgbClr val="FFFF00"/>
                        </a:highlight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6850">
                <a:tc rowSpan="5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適用商店頁素材</a:t>
                      </a:r>
                      <a:endParaRPr sz="10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Screenshot</a:t>
                      </a:r>
                      <a:endParaRPr sz="1000">
                        <a:solidFill>
                          <a:schemeClr val="dk1"/>
                        </a:solidFill>
                        <a:highlight>
                          <a:srgbClr val="F4CCCC"/>
                        </a:highlight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JPG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橫：1920*1080 (AN)、2732*2048 (iOS iPAD)、2688*1242、2208*1242 (iOS手機)</a:t>
                      </a:r>
                      <a:b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</a:b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直：1080*1920 (AN)、2048*2732 (iOS iPAD)、1242*2688、1242*2208 (iOS手機)</a:t>
                      </a: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主題圖片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JPG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1024*500</a:t>
                      </a: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0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Liveops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JPG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1080*1920、1920*1080、1080*1080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0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主題影片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mp4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1920*1080、1920*886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20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Icon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JPG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512*512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&lt;1MB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20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其他 (自填尺寸)</a:t>
                      </a:r>
                      <a:endParaRPr sz="10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6" name="Google Shape;66;p15"/>
          <p:cNvGraphicFramePr/>
          <p:nvPr>
            <p:extLst>
              <p:ext uri="{D42A27DB-BD31-4B8C-83A1-F6EECF244321}">
                <p14:modId xmlns:p14="http://schemas.microsoft.com/office/powerpoint/2010/main" val="2633033033"/>
              </p:ext>
            </p:extLst>
          </p:nvPr>
        </p:nvGraphicFramePr>
        <p:xfrm>
          <a:off x="50" y="25"/>
          <a:ext cx="9143975" cy="5143495"/>
        </p:xfrm>
        <a:graphic>
          <a:graphicData uri="http://schemas.openxmlformats.org/drawingml/2006/table">
            <a:tbl>
              <a:tblPr>
                <a:noFill/>
                <a:tableStyleId>{D27BCB22-5DEB-4D4A-AEB1-C0894EA97893}</a:tableStyleId>
              </a:tblPr>
              <a:tblGrid>
                <a:gridCol w="763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5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5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5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95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0725">
                <a:tc gridSpan="5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000" b="1" dirty="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分鏡總表</a:t>
                      </a:r>
                      <a:endParaRPr sz="2000" b="1" dirty="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 b="1" dirty="0">
                          <a:solidFill>
                            <a:srgbClr val="99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僅動態素材(gif/ video)才需填寫</a:t>
                      </a:r>
                      <a:endParaRPr sz="800" b="1" dirty="0">
                        <a:solidFill>
                          <a:srgbClr val="990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分鏡</a:t>
                      </a:r>
                      <a:endParaRPr sz="10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000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</a:t>
                      </a:r>
                      <a:r>
                        <a:rPr lang="en-US" altLang="zh-TW" sz="1000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-</a:t>
                      </a:r>
                      <a:r>
                        <a:rPr lang="zh-TW" altLang="en-US" sz="1000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午餐轉盤</a:t>
                      </a:r>
                      <a:endParaRPr sz="1000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</a:t>
                      </a:r>
                      <a:endParaRPr sz="10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</a:t>
                      </a:r>
                      <a:endParaRPr sz="10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</a:t>
                      </a:r>
                      <a:endParaRPr sz="10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59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示意圖</a:t>
                      </a: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6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分鏡說明</a:t>
                      </a: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17145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請參考</a:t>
                      </a:r>
                      <a:r>
                        <a:rPr lang="en-US" altLang="zh-TW" sz="1000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  <a:hlinkClick r:id="rId3"/>
                        </a:rPr>
                        <a:t>Reels</a:t>
                      </a:r>
                      <a:r>
                        <a:rPr lang="zh-TW" altLang="en-US" sz="1000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  <a:hlinkClick r:id="rId3"/>
                        </a:rPr>
                        <a:t>影片</a:t>
                      </a:r>
                      <a:r>
                        <a:rPr lang="zh-TW" altLang="en-US" sz="1000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製作，但轉盤動、指針不動。</a:t>
                      </a:r>
                      <a:endParaRPr lang="en-US" altLang="zh-TW" sz="1000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17145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以轉盤形式呈現，選項如下</a:t>
                      </a:r>
                      <a:r>
                        <a:rPr lang="en-US" altLang="zh-TW" sz="1000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:</a:t>
                      </a:r>
                      <a:br>
                        <a:rPr lang="en-US" altLang="zh-TW" sz="1000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</a:br>
                      <a:r>
                        <a:rPr lang="zh-TW" altLang="en-US" sz="1000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雞腿便當 排骨飯 滷肉飯 牛肉麵 義大利麵 鍋燒意麵 炒麵 水餃 鍋貼 咖哩飯 壽司 韓式拌飯 海南雞飯 燒臘便當 沙拉 麥*勞 </a:t>
                      </a:r>
                      <a:r>
                        <a:rPr lang="en-US" altLang="zh-TW" sz="1000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7*11</a:t>
                      </a:r>
                      <a:endParaRPr sz="1000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23" name="圖片 22">
            <a:extLst>
              <a:ext uri="{FF2B5EF4-FFF2-40B4-BE49-F238E27FC236}">
                <a16:creationId xmlns:a16="http://schemas.microsoft.com/office/drawing/2014/main" id="{E17B05E1-57B1-0FEC-1AB4-A10B8213E0E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9596" r="36447" b="-2425"/>
          <a:stretch>
            <a:fillRect/>
          </a:stretch>
        </p:blipFill>
        <p:spPr>
          <a:xfrm>
            <a:off x="839201" y="1269952"/>
            <a:ext cx="1950828" cy="2798640"/>
          </a:xfrm>
          <a:prstGeom prst="rect">
            <a:avLst/>
          </a:prstGeom>
        </p:spPr>
      </p:pic>
      <p:pic>
        <p:nvPicPr>
          <p:cNvPr id="27" name="圖片 26">
            <a:extLst>
              <a:ext uri="{FF2B5EF4-FFF2-40B4-BE49-F238E27FC236}">
                <a16:creationId xmlns:a16="http://schemas.microsoft.com/office/drawing/2014/main" id="{2EBE8EA7-9A72-E3A8-EFCB-45B3AB5DDE5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39201" y="1860421"/>
            <a:ext cx="2038552" cy="1946035"/>
          </a:xfrm>
          <a:prstGeom prst="rect">
            <a:avLst/>
          </a:prstGeom>
        </p:spPr>
      </p:pic>
      <p:pic>
        <p:nvPicPr>
          <p:cNvPr id="28" name="圖片 27">
            <a:extLst>
              <a:ext uri="{FF2B5EF4-FFF2-40B4-BE49-F238E27FC236}">
                <a16:creationId xmlns:a16="http://schemas.microsoft.com/office/drawing/2014/main" id="{5FEDB6C9-C73B-4DC9-CC0D-E261CB6ED3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67294" y="2386297"/>
            <a:ext cx="776305" cy="9374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6" name="Google Shape;76;p17"/>
          <p:cNvGraphicFramePr/>
          <p:nvPr>
            <p:extLst>
              <p:ext uri="{D42A27DB-BD31-4B8C-83A1-F6EECF244321}">
                <p14:modId xmlns:p14="http://schemas.microsoft.com/office/powerpoint/2010/main" val="1904161025"/>
              </p:ext>
            </p:extLst>
          </p:nvPr>
        </p:nvGraphicFramePr>
        <p:xfrm>
          <a:off x="3614775" y="0"/>
          <a:ext cx="5529225" cy="4995825"/>
        </p:xfrm>
        <a:graphic>
          <a:graphicData uri="http://schemas.openxmlformats.org/drawingml/2006/table">
            <a:tbl>
              <a:tblPr>
                <a:noFill/>
                <a:tableStyleId>{D27BCB22-5DEB-4D4A-AEB1-C0894EA97893}</a:tableStyleId>
              </a:tblPr>
              <a:tblGrid>
                <a:gridCol w="850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8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2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7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5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排版物件</a:t>
                      </a:r>
                      <a:endParaRPr sz="100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說明 ／ 資料庫連結</a:t>
                      </a:r>
                      <a:endParaRPr sz="100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背景</a:t>
                      </a:r>
                      <a:endParaRPr sz="8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童趣風的</a:t>
                      </a:r>
                      <a:r>
                        <a:rPr lang="zh-TW" altLang="en-US" sz="800" b="1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牆面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(X:\grp.product.art.check\【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貓咖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】\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設施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\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風格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15_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童趣風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)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背景的花紋可以縮小，不要顯得過於花俏，整體以綠色清新感為主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400">
                <a:tc row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元素</a:t>
                      </a:r>
                      <a:endParaRPr sz="8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大轉盤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不停轉動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)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；轉盤配色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:</a:t>
                      </a: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外框 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–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咖啡色</a:t>
                      </a: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面 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–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米白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字體 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–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需清晰可見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0878">
                <a:tc vMerge="1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8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店長貓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在中心，作為指針不動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貓咪面向正前方、雙手指向項目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雙手可以不用貼合，只是要「指向感」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表情 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– 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類似上班族貓，開心興奮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76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標題</a:t>
                      </a:r>
                      <a:endParaRPr sz="8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圓潤字體，文本改為「今天要吃啥咪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?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」</a:t>
                      </a: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4564481"/>
                  </a:ext>
                </a:extLst>
              </a:tr>
              <a:tr h="25476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Logo</a:t>
                      </a:r>
                      <a:endParaRPr sz="8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放置在畫面左下角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zh-TW" altLang="en-US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4010338"/>
                  </a:ext>
                </a:extLst>
              </a:tr>
              <a:tr h="25476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選項</a:t>
                      </a:r>
                      <a:endParaRPr sz="8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zh-TW" altLang="en-US" sz="800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雞腿便當 排骨飯 滷肉飯 牛肉麵 義大利麵 鍋燒意麵 炒麵 水餃 鍋貼 咖哩飯 壽司 韓式拌飯 海南雞飯 燒臘便當 沙拉 麥*勞 </a:t>
                      </a:r>
                      <a:r>
                        <a:rPr lang="en-US" altLang="zh-TW" sz="800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7*11</a:t>
                      </a:r>
                      <a:endParaRPr lang="zh-TW" altLang="en-US" sz="800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6023203"/>
                  </a:ext>
                </a:extLst>
              </a:tr>
              <a:tr h="345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視角／鏡位</a:t>
                      </a:r>
                      <a:endParaRPr sz="1000" b="1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動態說明</a:t>
                      </a:r>
                      <a:endParaRPr sz="1000" b="1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文案/ 對白</a:t>
                      </a:r>
                      <a:endParaRPr sz="1000" b="1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秒數</a:t>
                      </a:r>
                      <a:endParaRPr sz="1000" b="1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9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輪盤轉動</a:t>
                      </a:r>
                      <a:endParaRPr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x</a:t>
                      </a:r>
                      <a:endParaRPr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</a:t>
                      </a:r>
                      <a:endParaRPr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9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9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 dirty="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音樂</a:t>
                      </a:r>
                      <a:endParaRPr sz="1000" b="1" dirty="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77" name="Google Shape;77;p17"/>
          <p:cNvGraphicFramePr/>
          <p:nvPr/>
        </p:nvGraphicFramePr>
        <p:xfrm>
          <a:off x="-12" y="335238"/>
          <a:ext cx="3614775" cy="4808250"/>
        </p:xfrm>
        <a:graphic>
          <a:graphicData uri="http://schemas.openxmlformats.org/drawingml/2006/table">
            <a:tbl>
              <a:tblPr>
                <a:noFill/>
                <a:tableStyleId>{D27BCB22-5DEB-4D4A-AEB1-C0894EA97893}</a:tableStyleId>
              </a:tblPr>
              <a:tblGrid>
                <a:gridCol w="127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7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58875">
                <a:tc rowSpan="2" gridSpan="3">
                  <a:txBody>
                    <a:bodyPr/>
                    <a:lstStyle/>
                    <a:p>
                      <a:pPr marL="0" lvl="0" indent="0" algn="l" rtl="0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9375">
                <a:tc gridSpan="3"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8" name="Google Shape;78;p17"/>
          <p:cNvGraphicFramePr/>
          <p:nvPr>
            <p:extLst>
              <p:ext uri="{D42A27DB-BD31-4B8C-83A1-F6EECF244321}">
                <p14:modId xmlns:p14="http://schemas.microsoft.com/office/powerpoint/2010/main" val="1851805361"/>
              </p:ext>
            </p:extLst>
          </p:nvPr>
        </p:nvGraphicFramePr>
        <p:xfrm>
          <a:off x="0" y="0"/>
          <a:ext cx="3614775" cy="335250"/>
        </p:xfrm>
        <a:graphic>
          <a:graphicData uri="http://schemas.openxmlformats.org/drawingml/2006/table">
            <a:tbl>
              <a:tblPr>
                <a:noFill/>
                <a:tableStyleId>{D27BCB22-5DEB-4D4A-AEB1-C0894EA97893}</a:tableStyleId>
              </a:tblPr>
              <a:tblGrid>
                <a:gridCol w="478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7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 dirty="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分鏡</a:t>
                      </a:r>
                      <a:endParaRPr sz="1000" b="1" dirty="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</a:t>
                      </a:r>
                      <a:endParaRPr sz="1000" b="1" dirty="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秒數</a:t>
                      </a:r>
                      <a:endParaRPr sz="1000" b="1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dirty="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B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圖片 2">
            <a:extLst>
              <a:ext uri="{FF2B5EF4-FFF2-40B4-BE49-F238E27FC236}">
                <a16:creationId xmlns:a16="http://schemas.microsoft.com/office/drawing/2014/main" id="{22BA3A15-16B7-8362-538A-FA062DE181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28" r="33561" b="42303"/>
          <a:stretch>
            <a:fillRect/>
          </a:stretch>
        </p:blipFill>
        <p:spPr>
          <a:xfrm>
            <a:off x="353693" y="640515"/>
            <a:ext cx="2907363" cy="3785190"/>
          </a:xfrm>
          <a:prstGeom prst="rect">
            <a:avLst/>
          </a:prstGeom>
        </p:spPr>
      </p:pic>
      <p:sp>
        <p:nvSpPr>
          <p:cNvPr id="32" name="流程圖: 接點 31">
            <a:extLst>
              <a:ext uri="{FF2B5EF4-FFF2-40B4-BE49-F238E27FC236}">
                <a16:creationId xmlns:a16="http://schemas.microsoft.com/office/drawing/2014/main" id="{979D4D81-A63E-3EC1-2DF3-51E48B4DE03F}"/>
              </a:ext>
            </a:extLst>
          </p:cNvPr>
          <p:cNvSpPr/>
          <p:nvPr/>
        </p:nvSpPr>
        <p:spPr>
          <a:xfrm>
            <a:off x="446459" y="1710251"/>
            <a:ext cx="2640815" cy="2573482"/>
          </a:xfrm>
          <a:prstGeom prst="flowChartConnector">
            <a:avLst/>
          </a:prstGeom>
          <a:solidFill>
            <a:srgbClr val="FDFAE9"/>
          </a:solidFill>
          <a:ln w="76200">
            <a:solidFill>
              <a:srgbClr val="9262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8CE5A3B9-9806-8010-F21F-E57BDE165E9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 rot="554969">
            <a:off x="469125" y="1757701"/>
            <a:ext cx="2676525" cy="2555054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F3EE3F3A-1EBD-FE85-DA4A-1FD6E4B676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870" y="670488"/>
            <a:ext cx="2831035" cy="1057455"/>
          </a:xfrm>
          <a:prstGeom prst="rect">
            <a:avLst/>
          </a:prstGeom>
        </p:spPr>
      </p:pic>
      <p:pic>
        <p:nvPicPr>
          <p:cNvPr id="25" name="圖片 24">
            <a:extLst>
              <a:ext uri="{FF2B5EF4-FFF2-40B4-BE49-F238E27FC236}">
                <a16:creationId xmlns:a16="http://schemas.microsoft.com/office/drawing/2014/main" id="{947B3B2E-4F92-4510-ABD8-3C218A0E2B6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9485" y="4435196"/>
            <a:ext cx="1156866" cy="667422"/>
          </a:xfrm>
          <a:prstGeom prst="rect">
            <a:avLst/>
          </a:prstGeom>
        </p:spPr>
      </p:pic>
      <p:pic>
        <p:nvPicPr>
          <p:cNvPr id="29" name="圖片 28">
            <a:extLst>
              <a:ext uri="{FF2B5EF4-FFF2-40B4-BE49-F238E27FC236}">
                <a16:creationId xmlns:a16="http://schemas.microsoft.com/office/drawing/2014/main" id="{B57881B9-FFB3-9ACE-114B-78E64D53DE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6917" y="1509746"/>
            <a:ext cx="879472" cy="1062004"/>
          </a:xfrm>
          <a:prstGeom prst="rect">
            <a:avLst/>
          </a:prstGeom>
        </p:spPr>
      </p:pic>
      <p:pic>
        <p:nvPicPr>
          <p:cNvPr id="31" name="圖片 30">
            <a:extLst>
              <a:ext uri="{FF2B5EF4-FFF2-40B4-BE49-F238E27FC236}">
                <a16:creationId xmlns:a16="http://schemas.microsoft.com/office/drawing/2014/main" id="{25064858-CB19-D269-D849-7D924A159D4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66351" y="2360638"/>
            <a:ext cx="999735" cy="1207227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0B35C6A0-0001-13AA-DD8E-203D3E141AE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40299" y="1431845"/>
            <a:ext cx="1159451" cy="13491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9" name="Google Shape;89;p19"/>
          <p:cNvGraphicFramePr/>
          <p:nvPr/>
        </p:nvGraphicFramePr>
        <p:xfrm>
          <a:off x="0" y="-8287"/>
          <a:ext cx="9144000" cy="5143450"/>
        </p:xfrm>
        <a:graphic>
          <a:graphicData uri="http://schemas.openxmlformats.org/drawingml/2006/table">
            <a:tbl>
              <a:tblPr>
                <a:noFill/>
                <a:tableStyleId>{00827450-85E5-4037-9B08-230FE2B864AC}</a:tableStyleId>
              </a:tblPr>
              <a:tblGrid>
                <a:gridCol w="110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2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43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4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0650">
                <a:tc gridSpan="4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0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素材規範</a:t>
                      </a:r>
                      <a:endParaRPr sz="2000" b="1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50">
                <a:tc gridSpan="4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統一適用後續每支</a:t>
                      </a:r>
                      <a:r>
                        <a:rPr lang="zh-TW" sz="800" b="1">
                          <a:solidFill>
                            <a:schemeClr val="dk1"/>
                          </a:solidFill>
                          <a:highlight>
                            <a:srgbClr val="F4CCCC"/>
                          </a:highlight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廣告素材（商店頁不適用）</a:t>
                      </a:r>
                      <a:r>
                        <a:rPr lang="zh-TW" sz="8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，並將不在腳本中特別註明</a:t>
                      </a:r>
                      <a:endParaRPr sz="8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475"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類別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說明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規格/ 示意圖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備註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270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9400">
                <a:tc rowSpan="4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尺寸安全框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highlight>
                            <a:srgbClr val="FFF2CC"/>
                          </a:highlight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重點訊息</a:t>
                      </a: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請優先放置於安全區內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1475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1475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07825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33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logo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畫面左上置頂</a:t>
                      </a:r>
                      <a:endParaRPr sz="1000">
                        <a:solidFill>
                          <a:schemeClr val="dk1"/>
                        </a:solidFill>
                        <a:highlight>
                          <a:srgbClr val="FFF2CC"/>
                        </a:highlight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依素材內容套用，若背景太花logo不明顯，加背景相近色的色塊底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37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分級標誌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右下置底</a:t>
                      </a:r>
                      <a:endParaRPr sz="1000">
                        <a:solidFill>
                          <a:schemeClr val="dk1"/>
                        </a:solidFill>
                        <a:highlight>
                          <a:srgbClr val="FFF2CC"/>
                        </a:highlight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適用台灣遊戲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1265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警語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下方置底</a:t>
                      </a:r>
                      <a:endParaRPr sz="1000">
                        <a:solidFill>
                          <a:schemeClr val="dk1"/>
                        </a:solidFill>
                        <a:highlight>
                          <a:srgbClr val="FFF2CC"/>
                        </a:highlight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最小化字級，分行最多不超過兩行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依素材內容套用 (1)文字與背景相近色、(2)文字與文案相近字型、(3)可不加色塊底/ 加背景相近色的色塊底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台灣：這不是一款賭博遊戲，且無任何方式可以贏得金錢獎勵或具有金錢價值的獎品。嚴禁賭博。</a:t>
                      </a:r>
                      <a:b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</a:b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印尼：Game ini tidak menyediakan aktivitas perjudian apa pun, chips dalam game tidak dapat ditukar dengan uang tunai atau barang nyata lainnya.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適用印尼及中文德撲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90" name="Google Shape;90;p19"/>
          <p:cNvPicPr preferRelativeResize="0"/>
          <p:nvPr/>
        </p:nvPicPr>
        <p:blipFill rotWithShape="1">
          <a:blip r:embed="rId3">
            <a:alphaModFix/>
          </a:blip>
          <a:srcRect l="29687" t="12599" r="3703" b="17012"/>
          <a:stretch/>
        </p:blipFill>
        <p:spPr>
          <a:xfrm>
            <a:off x="2436075" y="1327125"/>
            <a:ext cx="1676449" cy="177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95675" y="1712000"/>
            <a:ext cx="2072491" cy="1082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9"/>
          <p:cNvPicPr preferRelativeResize="0"/>
          <p:nvPr/>
        </p:nvPicPr>
        <p:blipFill rotWithShape="1">
          <a:blip r:embed="rId5">
            <a:alphaModFix/>
          </a:blip>
          <a:srcRect t="26714" b="13131"/>
          <a:stretch/>
        </p:blipFill>
        <p:spPr>
          <a:xfrm>
            <a:off x="6351325" y="1409024"/>
            <a:ext cx="2130050" cy="1607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839</Words>
  <Application>Microsoft Office PowerPoint</Application>
  <PresentationFormat>如螢幕大小 (16:9)</PresentationFormat>
  <Paragraphs>126</Paragraphs>
  <Slides>5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8" baseType="lpstr">
      <vt:lpstr>Microsoft JhengHei</vt:lpstr>
      <vt:lpstr>Arial</vt:lpstr>
      <vt:lpstr>Simple Light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William</dc:creator>
  <cp:lastModifiedBy>柴怡辰 jhuo.chai</cp:lastModifiedBy>
  <cp:revision>8</cp:revision>
  <dcterms:modified xsi:type="dcterms:W3CDTF">2026-04-28T03:08:34Z</dcterms:modified>
</cp:coreProperties>
</file>